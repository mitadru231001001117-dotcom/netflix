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71" r:id="rId2"/>
    <p:sldId id="272" r:id="rId3"/>
    <p:sldId id="273" r:id="rId4"/>
    <p:sldId id="274" r:id="rId5"/>
    <p:sldId id="275" r:id="rId6"/>
    <p:sldId id="281" r:id="rId7"/>
    <p:sldId id="276" r:id="rId8"/>
    <p:sldId id="277" r:id="rId9"/>
    <p:sldId id="278" r:id="rId10"/>
    <p:sldId id="279" r:id="rId11"/>
    <p:sldId id="280" r:id="rId12"/>
    <p:sldId id="270" r:id="rId13"/>
  </p:sldIdLst>
  <p:sldSz cx="9144000" cy="6858000" type="screen4x3"/>
  <p:notesSz cx="6858000" cy="9144000"/>
  <p:custShowLst>
    <p:custShow name="Custom Show 1" id="0">
      <p:sldLst/>
    </p:custShow>
  </p:custShow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378" autoAdjust="0"/>
  </p:normalViewPr>
  <p:slideViewPr>
    <p:cSldViewPr snapToGrid="0" snapToObjects="1">
      <p:cViewPr varScale="1">
        <p:scale>
          <a:sx n="150" d="100"/>
          <a:sy n="150" d="100"/>
        </p:scale>
        <p:origin x="2100" y="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254D60-780A-44AE-9B1C-6EB02B163F5D}" type="datetimeFigureOut">
              <a:rPr lang="en-IN" smtClean="0"/>
              <a:t>07-11-2025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0D7CF7-F7B1-4759-A849-38255280FC47}" type="slidenum">
              <a:rPr lang="en-IN" smtClean="0"/>
              <a:t>‹#›</a:t>
            </a:fld>
            <a:endParaRPr lang="en-IN"/>
          </a:p>
        </p:txBody>
      </p:sp>
    </p:spTree>
    <p:extLst>
      <p:ext uri="{BB962C8B-B14F-4D97-AF65-F5344CB8AC3E}">
        <p14:creationId xmlns:p14="http://schemas.microsoft.com/office/powerpoint/2010/main" val="1890020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0772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5603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3369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9109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0584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6348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0920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808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9529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1772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26121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3440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8150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7011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69697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4985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11/7/2025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51881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mailto:mitadru231001001117@technoindiaeducation.com" TargetMode="External"/><Relationship Id="rId2" Type="http://schemas.openxmlformats.org/officeDocument/2006/relationships/hyperlink" Target="https://netflix-database-eda.streamlit.app/" TargetMode="External"/><Relationship Id="rId1" Type="http://schemas.openxmlformats.org/officeDocument/2006/relationships/slideLayout" Target="../slideLayouts/slideLayout6.xml"/><Relationship Id="rId5" Type="http://schemas.openxmlformats.org/officeDocument/2006/relationships/hyperlink" Target="https://github.com/Readerrss/Netflix-EDA" TargetMode="External"/><Relationship Id="rId4" Type="http://schemas.openxmlformats.org/officeDocument/2006/relationships/hyperlink" Target="https://www.linkedin.com/in/mitadru-karmakar-48327431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5CD403D-91EE-FB0A-8544-EAC6DEE676D8}"/>
              </a:ext>
            </a:extLst>
          </p:cNvPr>
          <p:cNvSpPr/>
          <p:nvPr/>
        </p:nvSpPr>
        <p:spPr>
          <a:xfrm>
            <a:off x="609599" y="2709333"/>
            <a:ext cx="6049434" cy="313266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92D520FB-DE5F-353F-44BC-A7511489C54D}"/>
              </a:ext>
            </a:extLst>
          </p:cNvPr>
          <p:cNvSpPr/>
          <p:nvPr/>
        </p:nvSpPr>
        <p:spPr>
          <a:xfrm>
            <a:off x="694267" y="2794001"/>
            <a:ext cx="5880100" cy="2959100"/>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66A2816-6E7C-81B8-510F-7013B3ADFF1B}"/>
              </a:ext>
            </a:extLst>
          </p:cNvPr>
          <p:cNvSpPr>
            <a:spLocks noGrp="1"/>
          </p:cNvSpPr>
          <p:nvPr>
            <p:ph type="title"/>
          </p:nvPr>
        </p:nvSpPr>
        <p:spPr/>
        <p:txBody>
          <a:bodyPr>
            <a:noAutofit/>
          </a:bodyPr>
          <a:lstStyle/>
          <a:p>
            <a:r>
              <a:rPr lang="en-IN" sz="5400" dirty="0"/>
              <a:t>Title Slide/About Me</a:t>
            </a:r>
          </a:p>
        </p:txBody>
      </p:sp>
      <p:sp>
        <p:nvSpPr>
          <p:cNvPr id="9" name="TextBox 8">
            <a:extLst>
              <a:ext uri="{FF2B5EF4-FFF2-40B4-BE49-F238E27FC236}">
                <a16:creationId xmlns:a16="http://schemas.microsoft.com/office/drawing/2014/main" id="{FF0E5AC4-C71A-8C16-E137-727EA2055B37}"/>
              </a:ext>
            </a:extLst>
          </p:cNvPr>
          <p:cNvSpPr txBox="1"/>
          <p:nvPr/>
        </p:nvSpPr>
        <p:spPr>
          <a:xfrm>
            <a:off x="736600" y="2836333"/>
            <a:ext cx="5791200" cy="28623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IN" dirty="0"/>
              <a:t>Name: Mitadru Karmakar</a:t>
            </a:r>
          </a:p>
          <a:p>
            <a:r>
              <a:rPr lang="en-IN" dirty="0"/>
              <a:t>Roll no: 231001001117</a:t>
            </a:r>
          </a:p>
          <a:p>
            <a:r>
              <a:rPr lang="en-IN" dirty="0"/>
              <a:t>Course name: IBM Project(EDA on Netflix)</a:t>
            </a:r>
          </a:p>
          <a:p>
            <a:r>
              <a:rPr lang="en-IN" dirty="0"/>
              <a:t>College name: Techno India University</a:t>
            </a:r>
          </a:p>
          <a:p>
            <a:r>
              <a:rPr lang="en-IN" dirty="0"/>
              <a:t>Date of presentation: N/A</a:t>
            </a:r>
          </a:p>
          <a:p>
            <a:r>
              <a:rPr lang="en-IN" dirty="0"/>
              <a:t>Supervisor’s name: Naina Devi</a:t>
            </a:r>
          </a:p>
          <a:p>
            <a:endParaRPr lang="en-IN" dirty="0"/>
          </a:p>
          <a:p>
            <a:r>
              <a:rPr lang="en-IN" dirty="0"/>
              <a:t>Optional line: A Streamlit Web App for Interactive Visualization of Netflix Data.</a:t>
            </a:r>
          </a:p>
          <a:p>
            <a:endParaRPr lang="en-IN" dirty="0"/>
          </a:p>
        </p:txBody>
      </p:sp>
      <p:sp>
        <p:nvSpPr>
          <p:cNvPr id="14" name="Arrow: Down 13">
            <a:extLst>
              <a:ext uri="{FF2B5EF4-FFF2-40B4-BE49-F238E27FC236}">
                <a16:creationId xmlns:a16="http://schemas.microsoft.com/office/drawing/2014/main" id="{92B3A93D-6EE7-D4E2-A91C-D9C903B2C4C4}"/>
              </a:ext>
            </a:extLst>
          </p:cNvPr>
          <p:cNvSpPr/>
          <p:nvPr/>
        </p:nvSpPr>
        <p:spPr>
          <a:xfrm>
            <a:off x="2108199" y="1841502"/>
            <a:ext cx="647701" cy="81338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AD88CF43-6745-509E-6D9E-7488FC9D6C2F}"/>
              </a:ext>
            </a:extLst>
          </p:cNvPr>
          <p:cNvSpPr/>
          <p:nvPr/>
        </p:nvSpPr>
        <p:spPr>
          <a:xfrm>
            <a:off x="1689100" y="1841502"/>
            <a:ext cx="579967" cy="3180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40873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38D7-A79F-97FD-FA30-3A86B9F81FF3}"/>
              </a:ext>
            </a:extLst>
          </p:cNvPr>
          <p:cNvSpPr>
            <a:spLocks noGrp="1"/>
          </p:cNvSpPr>
          <p:nvPr>
            <p:ph type="title"/>
          </p:nvPr>
        </p:nvSpPr>
        <p:spPr/>
        <p:txBody>
          <a:bodyPr/>
          <a:lstStyle/>
          <a:p>
            <a:r>
              <a:rPr lang="en-IN" dirty="0"/>
              <a:t>Introduction / Problem Statement</a:t>
            </a:r>
          </a:p>
        </p:txBody>
      </p:sp>
      <p:sp>
        <p:nvSpPr>
          <p:cNvPr id="3" name="TextBox 2">
            <a:extLst>
              <a:ext uri="{FF2B5EF4-FFF2-40B4-BE49-F238E27FC236}">
                <a16:creationId xmlns:a16="http://schemas.microsoft.com/office/drawing/2014/main" id="{578CFE26-7239-6FE9-C93B-6EAC37F36EA4}"/>
              </a:ext>
            </a:extLst>
          </p:cNvPr>
          <p:cNvSpPr txBox="1"/>
          <p:nvPr/>
        </p:nvSpPr>
        <p:spPr>
          <a:xfrm>
            <a:off x="525010" y="2154972"/>
            <a:ext cx="8093979" cy="4093428"/>
          </a:xfrm>
          <a:prstGeom prst="rect">
            <a:avLst/>
          </a:prstGeom>
          <a:noFill/>
        </p:spPr>
        <p:txBody>
          <a:bodyPr wrap="square" rtlCol="0">
            <a:spAutoFit/>
          </a:bodyPr>
          <a:lstStyle/>
          <a:p>
            <a:r>
              <a:rPr lang="en-US" b="1" dirty="0"/>
              <a:t>🎬 Project Description (Netflix EDA Dashboard)</a:t>
            </a:r>
          </a:p>
          <a:p>
            <a:endParaRPr lang="en-US" b="1" dirty="0"/>
          </a:p>
          <a:p>
            <a:r>
              <a:rPr lang="en-US" sz="1400" dirty="0"/>
              <a:t>This project focuses on performing </a:t>
            </a:r>
            <a:r>
              <a:rPr lang="en-US" sz="1400" b="1" dirty="0"/>
              <a:t>Exploratory Data Analysis (EDA)</a:t>
            </a:r>
            <a:r>
              <a:rPr lang="en-US" sz="1400" dirty="0"/>
              <a:t> on the </a:t>
            </a:r>
            <a:r>
              <a:rPr lang="en-US" sz="1400" b="1" dirty="0"/>
              <a:t>Netflix Movies and TV Shows dataset</a:t>
            </a:r>
            <a:r>
              <a:rPr lang="en-US" sz="1400" dirty="0"/>
              <a:t> to understand trends, patterns, and relationships within the data. The goal is to gain insights into what kind of content Netflix produces, when it was added, which countries contribute the most, and how ratings and durations are distributed.</a:t>
            </a:r>
          </a:p>
          <a:p>
            <a:r>
              <a:rPr lang="en-US" sz="1400" dirty="0"/>
              <a:t>The dataset is analyzed using </a:t>
            </a:r>
            <a:r>
              <a:rPr lang="en-US" sz="1400" b="1" dirty="0"/>
              <a:t>Python</a:t>
            </a:r>
            <a:r>
              <a:rPr lang="en-US" sz="1400" dirty="0"/>
              <a:t> and visualized through an </a:t>
            </a:r>
            <a:r>
              <a:rPr lang="en-US" sz="1400" b="1" dirty="0"/>
              <a:t>interactive </a:t>
            </a:r>
            <a:r>
              <a:rPr lang="en-US" sz="1400" b="1" dirty="0" err="1"/>
              <a:t>Streamlit</a:t>
            </a:r>
            <a:r>
              <a:rPr lang="en-US" sz="1400" b="1" dirty="0"/>
              <a:t> web dashboard</a:t>
            </a:r>
            <a:r>
              <a:rPr lang="en-US" sz="1400" dirty="0"/>
              <a:t>, allowing users to explore the data visually. Several Python libraries such as </a:t>
            </a:r>
            <a:r>
              <a:rPr lang="en-US" sz="1400" b="1" dirty="0"/>
              <a:t>pandas</a:t>
            </a:r>
            <a:r>
              <a:rPr lang="en-US" sz="1400" dirty="0"/>
              <a:t>, </a:t>
            </a:r>
            <a:r>
              <a:rPr lang="en-US" sz="1400" b="1" dirty="0"/>
              <a:t>matplotlib</a:t>
            </a:r>
            <a:r>
              <a:rPr lang="en-US" sz="1400" dirty="0"/>
              <a:t>, </a:t>
            </a:r>
            <a:r>
              <a:rPr lang="en-US" sz="1400" b="1" dirty="0"/>
              <a:t>seaborn</a:t>
            </a:r>
            <a:r>
              <a:rPr lang="en-US" sz="1400" dirty="0"/>
              <a:t>, and </a:t>
            </a:r>
            <a:r>
              <a:rPr lang="en-US" sz="1400" b="1" dirty="0" err="1"/>
              <a:t>plotly</a:t>
            </a:r>
            <a:r>
              <a:rPr lang="en-US" sz="1400" dirty="0"/>
              <a:t> were used for data cleaning, analysis, and plotting.</a:t>
            </a:r>
          </a:p>
          <a:p>
            <a:r>
              <a:rPr lang="en-US" sz="1400" dirty="0"/>
              <a:t>Through this dashboard, users can:</a:t>
            </a:r>
          </a:p>
          <a:p>
            <a:pPr marL="285750" indent="-285750">
              <a:buFont typeface="Arial" panose="020B0604020202020204" pitchFamily="34" charset="0"/>
              <a:buChar char="•"/>
            </a:pPr>
            <a:r>
              <a:rPr lang="en-US" sz="1400" dirty="0"/>
              <a:t>View the dataset and cleaned data.</a:t>
            </a:r>
          </a:p>
          <a:p>
            <a:pPr marL="285750" indent="-285750">
              <a:buFont typeface="Arial" panose="020B0604020202020204" pitchFamily="34" charset="0"/>
              <a:buChar char="•"/>
            </a:pPr>
            <a:r>
              <a:rPr lang="en-US" sz="1400" dirty="0"/>
              <a:t>Explore visual comparisons like </a:t>
            </a:r>
            <a:r>
              <a:rPr lang="en-US" sz="1400" i="1" dirty="0"/>
              <a:t>Movies vs TV Shows</a:t>
            </a:r>
            <a:r>
              <a:rPr lang="en-US" sz="1400" dirty="0"/>
              <a:t>, </a:t>
            </a:r>
            <a:r>
              <a:rPr lang="en-US" sz="1400" i="1" dirty="0"/>
              <a:t>Top Genres</a:t>
            </a:r>
            <a:r>
              <a:rPr lang="en-US" sz="1400" dirty="0"/>
              <a:t>, </a:t>
            </a:r>
            <a:r>
              <a:rPr lang="en-US" sz="1400" i="1" dirty="0"/>
              <a:t>Ratings Distribution</a:t>
            </a:r>
            <a:r>
              <a:rPr lang="en-US" sz="1400" dirty="0"/>
              <a:t>, and </a:t>
            </a:r>
            <a:r>
              <a:rPr lang="en-US" sz="1400" i="1" dirty="0"/>
              <a:t>Country Contributions</a:t>
            </a:r>
            <a:r>
              <a:rPr lang="en-US" sz="1400" dirty="0"/>
              <a:t>.</a:t>
            </a:r>
          </a:p>
          <a:p>
            <a:pPr marL="285750" indent="-285750">
              <a:buFont typeface="Arial" panose="020B0604020202020204" pitchFamily="34" charset="0"/>
              <a:buChar char="•"/>
            </a:pPr>
            <a:r>
              <a:rPr lang="en-US" sz="1400" dirty="0"/>
              <a:t>Examine time-based trends such as titles added per year.</a:t>
            </a:r>
          </a:p>
          <a:p>
            <a:pPr marL="285750" indent="-285750">
              <a:buFont typeface="Arial" panose="020B0604020202020204" pitchFamily="34" charset="0"/>
              <a:buChar char="•"/>
            </a:pPr>
            <a:r>
              <a:rPr lang="en-US" sz="1400" dirty="0"/>
              <a:t>Understand relationships between numerical features using a </a:t>
            </a:r>
            <a:r>
              <a:rPr lang="en-US" sz="1400" b="1" dirty="0"/>
              <a:t>Correlation Heatmap</a:t>
            </a:r>
            <a:r>
              <a:rPr lang="en-US" sz="1400" dirty="0"/>
              <a:t>.</a:t>
            </a:r>
          </a:p>
          <a:p>
            <a:pPr marL="285750" indent="-285750">
              <a:buFont typeface="Arial" panose="020B0604020202020204" pitchFamily="34" charset="0"/>
              <a:buChar char="•"/>
            </a:pPr>
            <a:r>
              <a:rPr lang="en-US" sz="1400" dirty="0"/>
              <a:t>See a global map showing where Netflix content originates.</a:t>
            </a:r>
          </a:p>
          <a:p>
            <a:r>
              <a:rPr lang="en-US" sz="1400" dirty="0"/>
              <a:t>This project provides meaningful insights into Netflix’s content library and demonstrates how data visualization can help understand large datasets effectively.</a:t>
            </a:r>
          </a:p>
        </p:txBody>
      </p:sp>
    </p:spTree>
    <p:extLst>
      <p:ext uri="{BB962C8B-B14F-4D97-AF65-F5344CB8AC3E}">
        <p14:creationId xmlns:p14="http://schemas.microsoft.com/office/powerpoint/2010/main" val="176113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AC309-7893-8423-7B22-E5F9998F356F}"/>
              </a:ext>
            </a:extLst>
          </p:cNvPr>
          <p:cNvSpPr>
            <a:spLocks noGrp="1"/>
          </p:cNvSpPr>
          <p:nvPr>
            <p:ph type="title"/>
          </p:nvPr>
        </p:nvSpPr>
        <p:spPr/>
        <p:txBody>
          <a:bodyPr/>
          <a:lstStyle/>
          <a:p>
            <a:r>
              <a:rPr lang="en-IN" dirty="0"/>
              <a:t>🧰 </a:t>
            </a:r>
            <a:r>
              <a:rPr lang="en-IN" b="1" dirty="0"/>
              <a:t>Tools &amp; Technologies Used</a:t>
            </a:r>
            <a:endParaRPr lang="en-IN" dirty="0"/>
          </a:p>
        </p:txBody>
      </p:sp>
      <p:sp>
        <p:nvSpPr>
          <p:cNvPr id="3" name="TextBox 2">
            <a:extLst>
              <a:ext uri="{FF2B5EF4-FFF2-40B4-BE49-F238E27FC236}">
                <a16:creationId xmlns:a16="http://schemas.microsoft.com/office/drawing/2014/main" id="{E701C85B-942C-153F-2AD8-79520C82E9E9}"/>
              </a:ext>
            </a:extLst>
          </p:cNvPr>
          <p:cNvSpPr txBox="1"/>
          <p:nvPr/>
        </p:nvSpPr>
        <p:spPr>
          <a:xfrm>
            <a:off x="276837" y="1930400"/>
            <a:ext cx="8535798" cy="923330"/>
          </a:xfrm>
          <a:prstGeom prst="rect">
            <a:avLst/>
          </a:prstGeom>
          <a:noFill/>
        </p:spPr>
        <p:txBody>
          <a:bodyPr wrap="square" rtlCol="0">
            <a:spAutoFit/>
          </a:bodyPr>
          <a:lstStyle/>
          <a:p>
            <a:r>
              <a:rPr lang="en-US" b="1" dirty="0"/>
              <a:t>🟩 Description:</a:t>
            </a:r>
          </a:p>
          <a:p>
            <a:r>
              <a:rPr lang="en-US" dirty="0"/>
              <a:t>Various tools and technologies were used for data analysis, visualization, dashboard creation, and presentation assistance.</a:t>
            </a:r>
          </a:p>
        </p:txBody>
      </p:sp>
      <p:graphicFrame>
        <p:nvGraphicFramePr>
          <p:cNvPr id="4" name="Table 3">
            <a:extLst>
              <a:ext uri="{FF2B5EF4-FFF2-40B4-BE49-F238E27FC236}">
                <a16:creationId xmlns:a16="http://schemas.microsoft.com/office/drawing/2014/main" id="{22B17C61-BAC9-98FF-17B1-AD7CF0E00A8A}"/>
              </a:ext>
            </a:extLst>
          </p:cNvPr>
          <p:cNvGraphicFramePr>
            <a:graphicFrameLocks noGrp="1"/>
          </p:cNvGraphicFramePr>
          <p:nvPr>
            <p:extLst>
              <p:ext uri="{D42A27DB-BD31-4B8C-83A1-F6EECF244321}">
                <p14:modId xmlns:p14="http://schemas.microsoft.com/office/powerpoint/2010/main" val="629698102"/>
              </p:ext>
            </p:extLst>
          </p:nvPr>
        </p:nvGraphicFramePr>
        <p:xfrm>
          <a:off x="1048722" y="3043766"/>
          <a:ext cx="5469468" cy="3601524"/>
        </p:xfrm>
        <a:graphic>
          <a:graphicData uri="http://schemas.openxmlformats.org/drawingml/2006/table">
            <a:tbl>
              <a:tblPr>
                <a:tableStyleId>{284E427A-3D55-4303-BF80-6455036E1DE7}</a:tableStyleId>
              </a:tblPr>
              <a:tblGrid>
                <a:gridCol w="1823156">
                  <a:extLst>
                    <a:ext uri="{9D8B030D-6E8A-4147-A177-3AD203B41FA5}">
                      <a16:colId xmlns:a16="http://schemas.microsoft.com/office/drawing/2014/main" val="3105580377"/>
                    </a:ext>
                  </a:extLst>
                </a:gridCol>
                <a:gridCol w="1823156">
                  <a:extLst>
                    <a:ext uri="{9D8B030D-6E8A-4147-A177-3AD203B41FA5}">
                      <a16:colId xmlns:a16="http://schemas.microsoft.com/office/drawing/2014/main" val="432442869"/>
                    </a:ext>
                  </a:extLst>
                </a:gridCol>
                <a:gridCol w="1823156">
                  <a:extLst>
                    <a:ext uri="{9D8B030D-6E8A-4147-A177-3AD203B41FA5}">
                      <a16:colId xmlns:a16="http://schemas.microsoft.com/office/drawing/2014/main" val="552981661"/>
                    </a:ext>
                  </a:extLst>
                </a:gridCol>
              </a:tblGrid>
              <a:tr h="226853">
                <a:tc>
                  <a:txBody>
                    <a:bodyPr/>
                    <a:lstStyle/>
                    <a:p>
                      <a:r>
                        <a:rPr lang="en-IN" sz="1200"/>
                        <a:t>Category</a:t>
                      </a:r>
                    </a:p>
                  </a:txBody>
                  <a:tcPr marL="62604" marR="62604" marT="31302" marB="31302" anchor="ctr"/>
                </a:tc>
                <a:tc>
                  <a:txBody>
                    <a:bodyPr/>
                    <a:lstStyle/>
                    <a:p>
                      <a:r>
                        <a:rPr lang="en-IN" sz="1200"/>
                        <a:t>Tools</a:t>
                      </a:r>
                    </a:p>
                  </a:txBody>
                  <a:tcPr marL="62604" marR="62604" marT="31302" marB="31302" anchor="ctr"/>
                </a:tc>
                <a:tc>
                  <a:txBody>
                    <a:bodyPr/>
                    <a:lstStyle/>
                    <a:p>
                      <a:r>
                        <a:rPr lang="en-IN" sz="1200"/>
                        <a:t>Purpose</a:t>
                      </a:r>
                    </a:p>
                  </a:txBody>
                  <a:tcPr marL="62604" marR="62604" marT="31302" marB="31302" anchor="ctr"/>
                </a:tc>
                <a:extLst>
                  <a:ext uri="{0D108BD9-81ED-4DB2-BD59-A6C34878D82A}">
                    <a16:rowId xmlns:a16="http://schemas.microsoft.com/office/drawing/2014/main" val="1782405650"/>
                  </a:ext>
                </a:extLst>
              </a:tr>
              <a:tr h="395854">
                <a:tc>
                  <a:txBody>
                    <a:bodyPr/>
                    <a:lstStyle/>
                    <a:p>
                      <a:r>
                        <a:rPr lang="en-IN" sz="1200" b="1"/>
                        <a:t>Language</a:t>
                      </a:r>
                      <a:endParaRPr lang="en-IN" sz="1200"/>
                    </a:p>
                  </a:txBody>
                  <a:tcPr marL="62604" marR="62604" marT="31302" marB="31302" anchor="ctr"/>
                </a:tc>
                <a:tc>
                  <a:txBody>
                    <a:bodyPr/>
                    <a:lstStyle/>
                    <a:p>
                      <a:r>
                        <a:rPr lang="en-IN" sz="1200"/>
                        <a:t>Python</a:t>
                      </a:r>
                    </a:p>
                  </a:txBody>
                  <a:tcPr marL="62604" marR="62604" marT="31302" marB="31302" anchor="ctr"/>
                </a:tc>
                <a:tc>
                  <a:txBody>
                    <a:bodyPr/>
                    <a:lstStyle/>
                    <a:p>
                      <a:r>
                        <a:rPr lang="en-US" sz="1200"/>
                        <a:t>For data analysis and visualization</a:t>
                      </a:r>
                    </a:p>
                  </a:txBody>
                  <a:tcPr marL="62604" marR="62604" marT="31302" marB="31302" anchor="ctr"/>
                </a:tc>
                <a:extLst>
                  <a:ext uri="{0D108BD9-81ED-4DB2-BD59-A6C34878D82A}">
                    <a16:rowId xmlns:a16="http://schemas.microsoft.com/office/drawing/2014/main" val="3608916473"/>
                  </a:ext>
                </a:extLst>
              </a:tr>
              <a:tr h="593071">
                <a:tc>
                  <a:txBody>
                    <a:bodyPr/>
                    <a:lstStyle/>
                    <a:p>
                      <a:r>
                        <a:rPr lang="en-IN" sz="1200" b="1" dirty="0"/>
                        <a:t>Data Handling</a:t>
                      </a:r>
                      <a:endParaRPr lang="en-IN" sz="1200" dirty="0"/>
                    </a:p>
                  </a:txBody>
                  <a:tcPr marL="62604" marR="62604" marT="31302" marB="31302" anchor="ctr"/>
                </a:tc>
                <a:tc>
                  <a:txBody>
                    <a:bodyPr/>
                    <a:lstStyle/>
                    <a:p>
                      <a:r>
                        <a:rPr lang="en-IN" sz="1200" dirty="0"/>
                        <a:t>pandas</a:t>
                      </a:r>
                    </a:p>
                  </a:txBody>
                  <a:tcPr marL="62604" marR="62604" marT="31302" marB="31302" anchor="ctr"/>
                </a:tc>
                <a:tc>
                  <a:txBody>
                    <a:bodyPr/>
                    <a:lstStyle/>
                    <a:p>
                      <a:r>
                        <a:rPr lang="en-IN" sz="1200"/>
                        <a:t>Data cleaning and preprocessing</a:t>
                      </a:r>
                    </a:p>
                  </a:txBody>
                  <a:tcPr marL="62604" marR="62604" marT="31302" marB="31302" anchor="ctr"/>
                </a:tc>
                <a:extLst>
                  <a:ext uri="{0D108BD9-81ED-4DB2-BD59-A6C34878D82A}">
                    <a16:rowId xmlns:a16="http://schemas.microsoft.com/office/drawing/2014/main" val="3198263331"/>
                  </a:ext>
                </a:extLst>
              </a:tr>
              <a:tr h="395854">
                <a:tc>
                  <a:txBody>
                    <a:bodyPr/>
                    <a:lstStyle/>
                    <a:p>
                      <a:r>
                        <a:rPr lang="en-IN" sz="1200" b="1" dirty="0"/>
                        <a:t>Visualization</a:t>
                      </a:r>
                      <a:endParaRPr lang="en-IN" sz="1200" dirty="0"/>
                    </a:p>
                  </a:txBody>
                  <a:tcPr marL="62604" marR="62604" marT="31302" marB="31302" anchor="ctr"/>
                </a:tc>
                <a:tc>
                  <a:txBody>
                    <a:bodyPr/>
                    <a:lstStyle/>
                    <a:p>
                      <a:r>
                        <a:rPr lang="en-IN" sz="1200" dirty="0"/>
                        <a:t>matplotlib, seaborn, </a:t>
                      </a:r>
                      <a:r>
                        <a:rPr lang="en-IN" sz="1200" dirty="0" err="1"/>
                        <a:t>plotly</a:t>
                      </a:r>
                      <a:endParaRPr lang="en-IN" sz="1200" dirty="0"/>
                    </a:p>
                  </a:txBody>
                  <a:tcPr marL="62604" marR="62604" marT="31302" marB="31302" anchor="ctr"/>
                </a:tc>
                <a:tc>
                  <a:txBody>
                    <a:bodyPr/>
                    <a:lstStyle/>
                    <a:p>
                      <a:r>
                        <a:rPr lang="en-US" sz="1200"/>
                        <a:t>Create static and interactive graphs</a:t>
                      </a:r>
                    </a:p>
                  </a:txBody>
                  <a:tcPr marL="62604" marR="62604" marT="31302" marB="31302" anchor="ctr"/>
                </a:tc>
                <a:extLst>
                  <a:ext uri="{0D108BD9-81ED-4DB2-BD59-A6C34878D82A}">
                    <a16:rowId xmlns:a16="http://schemas.microsoft.com/office/drawing/2014/main" val="1290587779"/>
                  </a:ext>
                </a:extLst>
              </a:tr>
              <a:tr h="492626">
                <a:tc>
                  <a:txBody>
                    <a:bodyPr/>
                    <a:lstStyle/>
                    <a:p>
                      <a:r>
                        <a:rPr lang="en-IN" sz="1200" b="1"/>
                        <a:t>Web Framework</a:t>
                      </a:r>
                      <a:endParaRPr lang="en-IN" sz="1200"/>
                    </a:p>
                  </a:txBody>
                  <a:tcPr marL="62604" marR="62604" marT="31302" marB="31302" anchor="ctr"/>
                </a:tc>
                <a:tc>
                  <a:txBody>
                    <a:bodyPr/>
                    <a:lstStyle/>
                    <a:p>
                      <a:r>
                        <a:rPr lang="en-IN" sz="1200"/>
                        <a:t>Streamlit</a:t>
                      </a:r>
                    </a:p>
                  </a:txBody>
                  <a:tcPr marL="62604" marR="62604" marT="31302" marB="31302" anchor="ctr"/>
                </a:tc>
                <a:tc>
                  <a:txBody>
                    <a:bodyPr/>
                    <a:lstStyle/>
                    <a:p>
                      <a:r>
                        <a:rPr lang="en-US" sz="1200"/>
                        <a:t>Build and deploy interactive dashboard</a:t>
                      </a:r>
                    </a:p>
                  </a:txBody>
                  <a:tcPr marL="62604" marR="62604" marT="31302" marB="31302" anchor="ctr"/>
                </a:tc>
                <a:extLst>
                  <a:ext uri="{0D108BD9-81ED-4DB2-BD59-A6C34878D82A}">
                    <a16:rowId xmlns:a16="http://schemas.microsoft.com/office/drawing/2014/main" val="1416354590"/>
                  </a:ext>
                </a:extLst>
              </a:tr>
              <a:tr h="395854">
                <a:tc>
                  <a:txBody>
                    <a:bodyPr/>
                    <a:lstStyle/>
                    <a:p>
                      <a:r>
                        <a:rPr lang="en-IN" sz="1200" b="1"/>
                        <a:t>Dataset Source</a:t>
                      </a:r>
                      <a:endParaRPr lang="en-IN" sz="1200"/>
                    </a:p>
                  </a:txBody>
                  <a:tcPr marL="62604" marR="62604" marT="31302" marB="31302" anchor="ctr"/>
                </a:tc>
                <a:tc>
                  <a:txBody>
                    <a:bodyPr/>
                    <a:lstStyle/>
                    <a:p>
                      <a:r>
                        <a:rPr lang="en-IN" sz="1200" dirty="0"/>
                        <a:t>Kaggle</a:t>
                      </a:r>
                    </a:p>
                  </a:txBody>
                  <a:tcPr marL="62604" marR="62604" marT="31302" marB="31302" anchor="ctr"/>
                </a:tc>
                <a:tc>
                  <a:txBody>
                    <a:bodyPr/>
                    <a:lstStyle/>
                    <a:p>
                      <a:r>
                        <a:rPr lang="en-US" sz="1200" dirty="0"/>
                        <a:t>Netflix Movies &amp; TV Shows dataset</a:t>
                      </a:r>
                    </a:p>
                  </a:txBody>
                  <a:tcPr marL="62604" marR="62604" marT="31302" marB="31302" anchor="ctr"/>
                </a:tc>
                <a:extLst>
                  <a:ext uri="{0D108BD9-81ED-4DB2-BD59-A6C34878D82A}">
                    <a16:rowId xmlns:a16="http://schemas.microsoft.com/office/drawing/2014/main" val="2406760048"/>
                  </a:ext>
                </a:extLst>
              </a:tr>
              <a:tr h="345235">
                <a:tc>
                  <a:txBody>
                    <a:bodyPr/>
                    <a:lstStyle/>
                    <a:p>
                      <a:r>
                        <a:rPr lang="en-IN" sz="1200" b="1"/>
                        <a:t>IDE</a:t>
                      </a:r>
                      <a:endParaRPr lang="en-IN" sz="1200"/>
                    </a:p>
                  </a:txBody>
                  <a:tcPr marL="62604" marR="62604" marT="31302" marB="31302" anchor="ctr"/>
                </a:tc>
                <a:tc>
                  <a:txBody>
                    <a:bodyPr/>
                    <a:lstStyle/>
                    <a:p>
                      <a:r>
                        <a:rPr lang="en-IN" sz="1200"/>
                        <a:t>VS Code / Jupyter</a:t>
                      </a:r>
                    </a:p>
                  </a:txBody>
                  <a:tcPr marL="62604" marR="62604" marT="31302" marB="31302" anchor="ctr"/>
                </a:tc>
                <a:tc>
                  <a:txBody>
                    <a:bodyPr/>
                    <a:lstStyle/>
                    <a:p>
                      <a:r>
                        <a:rPr lang="en-IN" sz="1200" dirty="0"/>
                        <a:t>Writing and testing code</a:t>
                      </a:r>
                    </a:p>
                  </a:txBody>
                  <a:tcPr marL="62604" marR="62604" marT="31302" marB="31302" anchor="ctr"/>
                </a:tc>
                <a:extLst>
                  <a:ext uri="{0D108BD9-81ED-4DB2-BD59-A6C34878D82A}">
                    <a16:rowId xmlns:a16="http://schemas.microsoft.com/office/drawing/2014/main" val="2273554210"/>
                  </a:ext>
                </a:extLst>
              </a:tr>
              <a:tr h="640016">
                <a:tc>
                  <a:txBody>
                    <a:bodyPr/>
                    <a:lstStyle/>
                    <a:p>
                      <a:r>
                        <a:rPr lang="en-IN" sz="1200" b="1"/>
                        <a:t>AI Tools</a:t>
                      </a:r>
                      <a:endParaRPr lang="en-IN" sz="1200"/>
                    </a:p>
                  </a:txBody>
                  <a:tcPr marL="62604" marR="62604" marT="31302" marB="31302" anchor="ctr"/>
                </a:tc>
                <a:tc>
                  <a:txBody>
                    <a:bodyPr/>
                    <a:lstStyle/>
                    <a:p>
                      <a:r>
                        <a:rPr lang="en-IN" sz="1200" dirty="0"/>
                        <a:t>ChatGPT, Google Gemini</a:t>
                      </a:r>
                    </a:p>
                  </a:txBody>
                  <a:tcPr marL="62604" marR="62604" marT="31302" marB="31302" anchor="ctr"/>
                </a:tc>
                <a:tc>
                  <a:txBody>
                    <a:bodyPr/>
                    <a:lstStyle/>
                    <a:p>
                      <a:r>
                        <a:rPr lang="en-US" sz="1200" dirty="0"/>
                        <a:t>Helped with explanations, slide content &amp; formatting</a:t>
                      </a:r>
                    </a:p>
                  </a:txBody>
                  <a:tcPr marL="62604" marR="62604" marT="31302" marB="31302" anchor="ctr"/>
                </a:tc>
                <a:extLst>
                  <a:ext uri="{0D108BD9-81ED-4DB2-BD59-A6C34878D82A}">
                    <a16:rowId xmlns:a16="http://schemas.microsoft.com/office/drawing/2014/main" val="4256055828"/>
                  </a:ext>
                </a:extLst>
              </a:tr>
            </a:tbl>
          </a:graphicData>
        </a:graphic>
      </p:graphicFrame>
    </p:spTree>
    <p:extLst>
      <p:ext uri="{BB962C8B-B14F-4D97-AF65-F5344CB8AC3E}">
        <p14:creationId xmlns:p14="http://schemas.microsoft.com/office/powerpoint/2010/main" val="854464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3A775-B68D-C78F-9EF4-4813451E049A}"/>
              </a:ext>
            </a:extLst>
          </p:cNvPr>
          <p:cNvSpPr>
            <a:spLocks noGrp="1"/>
          </p:cNvSpPr>
          <p:nvPr>
            <p:ph type="title"/>
          </p:nvPr>
        </p:nvSpPr>
        <p:spPr/>
        <p:txBody>
          <a:bodyPr/>
          <a:lstStyle/>
          <a:p>
            <a:r>
              <a:rPr lang="en-IN" dirty="0"/>
              <a:t>🎯 </a:t>
            </a:r>
            <a:r>
              <a:rPr lang="en-IN" b="1" dirty="0"/>
              <a:t>Project Objectives</a:t>
            </a:r>
            <a:endParaRPr lang="en-IN" dirty="0"/>
          </a:p>
        </p:txBody>
      </p:sp>
      <p:sp>
        <p:nvSpPr>
          <p:cNvPr id="3" name="TextBox 2">
            <a:extLst>
              <a:ext uri="{FF2B5EF4-FFF2-40B4-BE49-F238E27FC236}">
                <a16:creationId xmlns:a16="http://schemas.microsoft.com/office/drawing/2014/main" id="{F2940786-B8E2-74E4-9057-1ADB872601F4}"/>
              </a:ext>
            </a:extLst>
          </p:cNvPr>
          <p:cNvSpPr txBox="1"/>
          <p:nvPr/>
        </p:nvSpPr>
        <p:spPr>
          <a:xfrm>
            <a:off x="609599" y="2037201"/>
            <a:ext cx="7878233" cy="1200329"/>
          </a:xfrm>
          <a:prstGeom prst="rect">
            <a:avLst/>
          </a:prstGeom>
          <a:noFill/>
        </p:spPr>
        <p:txBody>
          <a:bodyPr wrap="square" rtlCol="0">
            <a:spAutoFit/>
          </a:bodyPr>
          <a:lstStyle/>
          <a:p>
            <a:r>
              <a:rPr lang="en-US" b="1" dirty="0"/>
              <a:t>🟩 Description:</a:t>
            </a:r>
          </a:p>
          <a:p>
            <a:r>
              <a:rPr lang="en-US" dirty="0"/>
              <a:t>The main aim of this project is to analyze the Netflix dataset to find useful trends and patterns, and to display them interactively through a </a:t>
            </a:r>
            <a:r>
              <a:rPr lang="en-US" dirty="0" err="1"/>
              <a:t>Streamlit</a:t>
            </a:r>
            <a:r>
              <a:rPr lang="en-US" dirty="0"/>
              <a:t> dashboard.</a:t>
            </a:r>
          </a:p>
        </p:txBody>
      </p:sp>
      <p:pic>
        <p:nvPicPr>
          <p:cNvPr id="7" name="Picture 6">
            <a:extLst>
              <a:ext uri="{FF2B5EF4-FFF2-40B4-BE49-F238E27FC236}">
                <a16:creationId xmlns:a16="http://schemas.microsoft.com/office/drawing/2014/main" id="{707A1B73-9F40-8B8C-6729-3D3D896A8999}"/>
              </a:ext>
            </a:extLst>
          </p:cNvPr>
          <p:cNvPicPr>
            <a:picLocks noChangeAspect="1"/>
          </p:cNvPicPr>
          <p:nvPr/>
        </p:nvPicPr>
        <p:blipFill>
          <a:blip r:embed="rId2"/>
          <a:stretch>
            <a:fillRect/>
          </a:stretch>
        </p:blipFill>
        <p:spPr>
          <a:xfrm>
            <a:off x="1121832" y="3483032"/>
            <a:ext cx="4847169" cy="2367435"/>
          </a:xfrm>
          <a:prstGeom prst="rect">
            <a:avLst/>
          </a:prstGeom>
        </p:spPr>
      </p:pic>
      <p:cxnSp>
        <p:nvCxnSpPr>
          <p:cNvPr id="9" name="Straight Arrow Connector 8">
            <a:extLst>
              <a:ext uri="{FF2B5EF4-FFF2-40B4-BE49-F238E27FC236}">
                <a16:creationId xmlns:a16="http://schemas.microsoft.com/office/drawing/2014/main" id="{61222B4B-3FA6-948C-F438-8668F4DFA9FB}"/>
              </a:ext>
            </a:extLst>
          </p:cNvPr>
          <p:cNvCxnSpPr/>
          <p:nvPr/>
        </p:nvCxnSpPr>
        <p:spPr>
          <a:xfrm>
            <a:off x="1549400" y="3873500"/>
            <a:ext cx="17356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83A6118-14B0-D06E-F5D2-B87A6BDBA794}"/>
              </a:ext>
            </a:extLst>
          </p:cNvPr>
          <p:cNvCxnSpPr/>
          <p:nvPr/>
        </p:nvCxnSpPr>
        <p:spPr>
          <a:xfrm>
            <a:off x="1553632" y="4254500"/>
            <a:ext cx="17356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2F23201-DF17-6615-FDCB-5B637E9E916C}"/>
              </a:ext>
            </a:extLst>
          </p:cNvPr>
          <p:cNvCxnSpPr/>
          <p:nvPr/>
        </p:nvCxnSpPr>
        <p:spPr>
          <a:xfrm>
            <a:off x="1549398" y="5681134"/>
            <a:ext cx="17356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6E7CDDB-BDDB-E953-9EDB-009BF4C7A5BA}"/>
              </a:ext>
            </a:extLst>
          </p:cNvPr>
          <p:cNvCxnSpPr/>
          <p:nvPr/>
        </p:nvCxnSpPr>
        <p:spPr>
          <a:xfrm>
            <a:off x="1549399" y="5321300"/>
            <a:ext cx="17356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FD5C40C-9BDB-8A80-0A0A-1F20616EA0A8}"/>
              </a:ext>
            </a:extLst>
          </p:cNvPr>
          <p:cNvCxnSpPr/>
          <p:nvPr/>
        </p:nvCxnSpPr>
        <p:spPr>
          <a:xfrm>
            <a:off x="1553631" y="4961467"/>
            <a:ext cx="17356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6DE75E1-7AFC-FE5C-CBA3-599F4CB1D271}"/>
              </a:ext>
            </a:extLst>
          </p:cNvPr>
          <p:cNvCxnSpPr/>
          <p:nvPr/>
        </p:nvCxnSpPr>
        <p:spPr>
          <a:xfrm>
            <a:off x="1553632" y="4605867"/>
            <a:ext cx="17356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8763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0C70E-783B-C98A-033E-0963FCE61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A588C-56F1-667F-CEDF-0CF78F5974B1}"/>
              </a:ext>
            </a:extLst>
          </p:cNvPr>
          <p:cNvSpPr>
            <a:spLocks noGrp="1"/>
          </p:cNvSpPr>
          <p:nvPr>
            <p:ph type="title"/>
          </p:nvPr>
        </p:nvSpPr>
        <p:spPr/>
        <p:txBody>
          <a:bodyPr/>
          <a:lstStyle/>
          <a:p>
            <a:r>
              <a:rPr lang="en-IN" dirty="0"/>
              <a:t>🟦 </a:t>
            </a:r>
            <a:r>
              <a:rPr lang="en-IN" b="1" dirty="0"/>
              <a:t>Methodology / Workflow</a:t>
            </a:r>
            <a:endParaRPr lang="en-IN" dirty="0"/>
          </a:p>
        </p:txBody>
      </p:sp>
      <p:sp>
        <p:nvSpPr>
          <p:cNvPr id="3" name="TextBox 2">
            <a:extLst>
              <a:ext uri="{FF2B5EF4-FFF2-40B4-BE49-F238E27FC236}">
                <a16:creationId xmlns:a16="http://schemas.microsoft.com/office/drawing/2014/main" id="{7BE4DD8D-B2B0-B41F-F659-F175ED7CA658}"/>
              </a:ext>
            </a:extLst>
          </p:cNvPr>
          <p:cNvSpPr txBox="1"/>
          <p:nvPr/>
        </p:nvSpPr>
        <p:spPr>
          <a:xfrm>
            <a:off x="609599" y="2037201"/>
            <a:ext cx="7878233" cy="923330"/>
          </a:xfrm>
          <a:prstGeom prst="rect">
            <a:avLst/>
          </a:prstGeom>
          <a:noFill/>
        </p:spPr>
        <p:txBody>
          <a:bodyPr wrap="square" rtlCol="0">
            <a:spAutoFit/>
          </a:bodyPr>
          <a:lstStyle/>
          <a:p>
            <a:r>
              <a:rPr lang="en-US" b="1" dirty="0"/>
              <a:t>🟩 Description:</a:t>
            </a:r>
          </a:p>
          <a:p>
            <a:r>
              <a:rPr lang="en-US" dirty="0"/>
              <a:t>This slide explains the step-by-step process followed to clean, analyze, and visualize the Netflix dataset using Python and </a:t>
            </a:r>
            <a:r>
              <a:rPr lang="en-US" dirty="0" err="1"/>
              <a:t>Streamlit</a:t>
            </a:r>
            <a:r>
              <a:rPr lang="en-US" dirty="0"/>
              <a:t>.</a:t>
            </a:r>
          </a:p>
        </p:txBody>
      </p:sp>
      <p:graphicFrame>
        <p:nvGraphicFramePr>
          <p:cNvPr id="4" name="Table 3">
            <a:extLst>
              <a:ext uri="{FF2B5EF4-FFF2-40B4-BE49-F238E27FC236}">
                <a16:creationId xmlns:a16="http://schemas.microsoft.com/office/drawing/2014/main" id="{8165380A-9BF0-AEB0-BAA5-EDB23C3AB982}"/>
              </a:ext>
            </a:extLst>
          </p:cNvPr>
          <p:cNvGraphicFramePr>
            <a:graphicFrameLocks noGrp="1"/>
          </p:cNvGraphicFramePr>
          <p:nvPr>
            <p:extLst>
              <p:ext uri="{D42A27DB-BD31-4B8C-83A1-F6EECF244321}">
                <p14:modId xmlns:p14="http://schemas.microsoft.com/office/powerpoint/2010/main" val="3932437648"/>
              </p:ext>
            </p:extLst>
          </p:nvPr>
        </p:nvGraphicFramePr>
        <p:xfrm>
          <a:off x="1811866" y="3139911"/>
          <a:ext cx="3966634" cy="3349944"/>
        </p:xfrm>
        <a:graphic>
          <a:graphicData uri="http://schemas.openxmlformats.org/drawingml/2006/table">
            <a:tbl>
              <a:tblPr>
                <a:tableStyleId>{3C2FFA5D-87B4-456A-9821-1D502468CF0F}</a:tableStyleId>
              </a:tblPr>
              <a:tblGrid>
                <a:gridCol w="1983317">
                  <a:extLst>
                    <a:ext uri="{9D8B030D-6E8A-4147-A177-3AD203B41FA5}">
                      <a16:colId xmlns:a16="http://schemas.microsoft.com/office/drawing/2014/main" val="1437715443"/>
                    </a:ext>
                  </a:extLst>
                </a:gridCol>
                <a:gridCol w="1983317">
                  <a:extLst>
                    <a:ext uri="{9D8B030D-6E8A-4147-A177-3AD203B41FA5}">
                      <a16:colId xmlns:a16="http://schemas.microsoft.com/office/drawing/2014/main" val="3586864473"/>
                    </a:ext>
                  </a:extLst>
                </a:gridCol>
              </a:tblGrid>
              <a:tr h="183782">
                <a:tc>
                  <a:txBody>
                    <a:bodyPr/>
                    <a:lstStyle/>
                    <a:p>
                      <a:r>
                        <a:rPr lang="en-IN" sz="1000"/>
                        <a:t>Step</a:t>
                      </a:r>
                    </a:p>
                  </a:txBody>
                  <a:tcPr marL="53170" marR="53170" marT="26585" marB="26585" anchor="ctr"/>
                </a:tc>
                <a:tc>
                  <a:txBody>
                    <a:bodyPr/>
                    <a:lstStyle/>
                    <a:p>
                      <a:r>
                        <a:rPr lang="en-IN" sz="1000" dirty="0"/>
                        <a:t>Activity</a:t>
                      </a:r>
                    </a:p>
                  </a:txBody>
                  <a:tcPr marL="53170" marR="53170" marT="26585" marB="26585" anchor="ctr"/>
                </a:tc>
                <a:extLst>
                  <a:ext uri="{0D108BD9-81ED-4DB2-BD59-A6C34878D82A}">
                    <a16:rowId xmlns:a16="http://schemas.microsoft.com/office/drawing/2014/main" val="3436894228"/>
                  </a:ext>
                </a:extLst>
              </a:tr>
              <a:tr h="320029">
                <a:tc>
                  <a:txBody>
                    <a:bodyPr/>
                    <a:lstStyle/>
                    <a:p>
                      <a:r>
                        <a:rPr lang="en-IN" sz="1000" dirty="0"/>
                        <a:t>1️⃣</a:t>
                      </a:r>
                    </a:p>
                  </a:txBody>
                  <a:tcPr marL="53170" marR="53170" marT="26585" marB="26585" anchor="ctr"/>
                </a:tc>
                <a:tc>
                  <a:txBody>
                    <a:bodyPr/>
                    <a:lstStyle/>
                    <a:p>
                      <a:r>
                        <a:rPr lang="en-US" sz="1000" b="1" dirty="0"/>
                        <a:t>Data Collection</a:t>
                      </a:r>
                      <a:r>
                        <a:rPr lang="en-US" sz="1000" dirty="0"/>
                        <a:t> – Download Netflix dataset from Kaggle.</a:t>
                      </a:r>
                    </a:p>
                  </a:txBody>
                  <a:tcPr marL="53170" marR="53170" marT="26585" marB="26585" anchor="ctr"/>
                </a:tc>
                <a:extLst>
                  <a:ext uri="{0D108BD9-81ED-4DB2-BD59-A6C34878D82A}">
                    <a16:rowId xmlns:a16="http://schemas.microsoft.com/office/drawing/2014/main" val="263033491"/>
                  </a:ext>
                </a:extLst>
              </a:tr>
              <a:tr h="456277">
                <a:tc>
                  <a:txBody>
                    <a:bodyPr/>
                    <a:lstStyle/>
                    <a:p>
                      <a:r>
                        <a:rPr lang="en-IN" sz="1000" dirty="0"/>
                        <a:t>2️⃣</a:t>
                      </a:r>
                    </a:p>
                  </a:txBody>
                  <a:tcPr marL="53170" marR="53170" marT="26585" marB="26585" anchor="ctr"/>
                </a:tc>
                <a:tc>
                  <a:txBody>
                    <a:bodyPr/>
                    <a:lstStyle/>
                    <a:p>
                      <a:r>
                        <a:rPr lang="en-US" sz="1000" b="1" dirty="0"/>
                        <a:t>Data Cleaning</a:t>
                      </a:r>
                      <a:r>
                        <a:rPr lang="en-US" sz="1000" dirty="0"/>
                        <a:t> – Handle missing values, convert dates, extract numeric durations.</a:t>
                      </a:r>
                    </a:p>
                  </a:txBody>
                  <a:tcPr marL="53170" marR="53170" marT="26585" marB="26585" anchor="ctr"/>
                </a:tc>
                <a:extLst>
                  <a:ext uri="{0D108BD9-81ED-4DB2-BD59-A6C34878D82A}">
                    <a16:rowId xmlns:a16="http://schemas.microsoft.com/office/drawing/2014/main" val="1937858177"/>
                  </a:ext>
                </a:extLst>
              </a:tr>
              <a:tr h="592524">
                <a:tc>
                  <a:txBody>
                    <a:bodyPr/>
                    <a:lstStyle/>
                    <a:p>
                      <a:r>
                        <a:rPr lang="en-IN" sz="1000" dirty="0"/>
                        <a:t>3️⃣</a:t>
                      </a:r>
                    </a:p>
                  </a:txBody>
                  <a:tcPr marL="53170" marR="53170" marT="26585" marB="26585" anchor="ctr"/>
                </a:tc>
                <a:tc>
                  <a:txBody>
                    <a:bodyPr/>
                    <a:lstStyle/>
                    <a:p>
                      <a:r>
                        <a:rPr lang="en-US" sz="1000" b="1" dirty="0"/>
                        <a:t>Exploratory Data Analysis (EDA)</a:t>
                      </a:r>
                      <a:r>
                        <a:rPr lang="en-US" sz="1000" dirty="0"/>
                        <a:t> – Analyze trends in content type, genres, ratings, and countries.</a:t>
                      </a:r>
                    </a:p>
                  </a:txBody>
                  <a:tcPr marL="53170" marR="53170" marT="26585" marB="26585" anchor="ctr"/>
                </a:tc>
                <a:extLst>
                  <a:ext uri="{0D108BD9-81ED-4DB2-BD59-A6C34878D82A}">
                    <a16:rowId xmlns:a16="http://schemas.microsoft.com/office/drawing/2014/main" val="3596388663"/>
                  </a:ext>
                </a:extLst>
              </a:tr>
              <a:tr h="592524">
                <a:tc>
                  <a:txBody>
                    <a:bodyPr/>
                    <a:lstStyle/>
                    <a:p>
                      <a:r>
                        <a:rPr lang="en-IN" sz="1000" dirty="0"/>
                        <a:t>4️⃣</a:t>
                      </a:r>
                    </a:p>
                  </a:txBody>
                  <a:tcPr marL="53170" marR="53170" marT="26585" marB="26585" anchor="ctr"/>
                </a:tc>
                <a:tc>
                  <a:txBody>
                    <a:bodyPr/>
                    <a:lstStyle/>
                    <a:p>
                      <a:r>
                        <a:rPr lang="en-US" sz="1000" b="1" dirty="0"/>
                        <a:t>Data Visualization</a:t>
                      </a:r>
                      <a:r>
                        <a:rPr lang="en-US" sz="1000" dirty="0"/>
                        <a:t> – Use matplotlib, seaborn, and </a:t>
                      </a:r>
                      <a:r>
                        <a:rPr lang="en-US" sz="1000" dirty="0" err="1"/>
                        <a:t>plotly</a:t>
                      </a:r>
                      <a:r>
                        <a:rPr lang="en-US" sz="1000" dirty="0"/>
                        <a:t> to create graphs and heatmaps.</a:t>
                      </a:r>
                    </a:p>
                  </a:txBody>
                  <a:tcPr marL="53170" marR="53170" marT="26585" marB="26585" anchor="ctr"/>
                </a:tc>
                <a:extLst>
                  <a:ext uri="{0D108BD9-81ED-4DB2-BD59-A6C34878D82A}">
                    <a16:rowId xmlns:a16="http://schemas.microsoft.com/office/drawing/2014/main" val="4263205763"/>
                  </a:ext>
                </a:extLst>
              </a:tr>
              <a:tr h="456277">
                <a:tc>
                  <a:txBody>
                    <a:bodyPr/>
                    <a:lstStyle/>
                    <a:p>
                      <a:r>
                        <a:rPr lang="en-IN" sz="1000" dirty="0"/>
                        <a:t>5️⃣</a:t>
                      </a:r>
                    </a:p>
                  </a:txBody>
                  <a:tcPr marL="53170" marR="53170" marT="26585" marB="26585" anchor="ctr"/>
                </a:tc>
                <a:tc>
                  <a:txBody>
                    <a:bodyPr/>
                    <a:lstStyle/>
                    <a:p>
                      <a:r>
                        <a:rPr lang="en-US" sz="1000" b="1" dirty="0"/>
                        <a:t>Dashboard Development</a:t>
                      </a:r>
                      <a:r>
                        <a:rPr lang="en-US" sz="1000" dirty="0"/>
                        <a:t> – Build an interactive </a:t>
                      </a:r>
                      <a:r>
                        <a:rPr lang="en-US" sz="1000" dirty="0" err="1"/>
                        <a:t>Streamlit</a:t>
                      </a:r>
                      <a:r>
                        <a:rPr lang="en-US" sz="1000" dirty="0"/>
                        <a:t> dashboard to display insights.</a:t>
                      </a:r>
                    </a:p>
                  </a:txBody>
                  <a:tcPr marL="53170" marR="53170" marT="26585" marB="26585" anchor="ctr"/>
                </a:tc>
                <a:extLst>
                  <a:ext uri="{0D108BD9-81ED-4DB2-BD59-A6C34878D82A}">
                    <a16:rowId xmlns:a16="http://schemas.microsoft.com/office/drawing/2014/main" val="234849169"/>
                  </a:ext>
                </a:extLst>
              </a:tr>
              <a:tr h="456277">
                <a:tc>
                  <a:txBody>
                    <a:bodyPr/>
                    <a:lstStyle/>
                    <a:p>
                      <a:r>
                        <a:rPr lang="en-IN" sz="1000" dirty="0"/>
                        <a:t>6️⃣</a:t>
                      </a:r>
                    </a:p>
                  </a:txBody>
                  <a:tcPr marL="53170" marR="53170" marT="26585" marB="26585" anchor="ctr"/>
                </a:tc>
                <a:tc>
                  <a:txBody>
                    <a:bodyPr/>
                    <a:lstStyle/>
                    <a:p>
                      <a:r>
                        <a:rPr lang="en-US" sz="1000" b="1" dirty="0"/>
                        <a:t>Presentation &amp; Reporting</a:t>
                      </a:r>
                      <a:r>
                        <a:rPr lang="en-US" sz="1000" dirty="0"/>
                        <a:t> – Record graphs, code, and explain findings for slides.</a:t>
                      </a:r>
                    </a:p>
                  </a:txBody>
                  <a:tcPr marL="53170" marR="53170" marT="26585" marB="26585" anchor="ctr"/>
                </a:tc>
                <a:extLst>
                  <a:ext uri="{0D108BD9-81ED-4DB2-BD59-A6C34878D82A}">
                    <a16:rowId xmlns:a16="http://schemas.microsoft.com/office/drawing/2014/main" val="3504666291"/>
                  </a:ext>
                </a:extLst>
              </a:tr>
            </a:tbl>
          </a:graphicData>
        </a:graphic>
      </p:graphicFrame>
    </p:spTree>
    <p:extLst>
      <p:ext uri="{BB962C8B-B14F-4D97-AF65-F5344CB8AC3E}">
        <p14:creationId xmlns:p14="http://schemas.microsoft.com/office/powerpoint/2010/main" val="394841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5C020-E2D9-162B-F9E1-EA80FF02BF4D}"/>
              </a:ext>
            </a:extLst>
          </p:cNvPr>
          <p:cNvSpPr>
            <a:spLocks noGrp="1"/>
          </p:cNvSpPr>
          <p:nvPr>
            <p:ph type="title"/>
          </p:nvPr>
        </p:nvSpPr>
        <p:spPr/>
        <p:txBody>
          <a:bodyPr/>
          <a:lstStyle/>
          <a:p>
            <a:r>
              <a:rPr lang="en-US" dirty="0"/>
              <a:t>Dataset preview</a:t>
            </a:r>
            <a:endParaRPr lang="en-IN" dirty="0"/>
          </a:p>
        </p:txBody>
      </p:sp>
      <p:sp>
        <p:nvSpPr>
          <p:cNvPr id="3" name="TextBox 2">
            <a:extLst>
              <a:ext uri="{FF2B5EF4-FFF2-40B4-BE49-F238E27FC236}">
                <a16:creationId xmlns:a16="http://schemas.microsoft.com/office/drawing/2014/main" id="{CD95AA7D-FAEE-56A2-ADEC-99E7416CF1E2}"/>
              </a:ext>
            </a:extLst>
          </p:cNvPr>
          <p:cNvSpPr txBox="1"/>
          <p:nvPr/>
        </p:nvSpPr>
        <p:spPr>
          <a:xfrm>
            <a:off x="300567" y="1446368"/>
            <a:ext cx="7704666" cy="646331"/>
          </a:xfrm>
          <a:prstGeom prst="rect">
            <a:avLst/>
          </a:prstGeom>
          <a:noFill/>
        </p:spPr>
        <p:txBody>
          <a:bodyPr wrap="square" rtlCol="0">
            <a:spAutoFit/>
          </a:bodyPr>
          <a:lstStyle/>
          <a:p>
            <a:r>
              <a:rPr lang="en-US" b="1" dirty="0"/>
              <a:t>🟩 Description:</a:t>
            </a:r>
          </a:p>
          <a:p>
            <a:r>
              <a:rPr lang="en-US" dirty="0"/>
              <a:t>A brief overview of the Netflix dataset used for this project.</a:t>
            </a:r>
          </a:p>
        </p:txBody>
      </p:sp>
      <p:pic>
        <p:nvPicPr>
          <p:cNvPr id="5" name="Picture 4">
            <a:extLst>
              <a:ext uri="{FF2B5EF4-FFF2-40B4-BE49-F238E27FC236}">
                <a16:creationId xmlns:a16="http://schemas.microsoft.com/office/drawing/2014/main" id="{98608176-08B5-0AFB-7667-DD6FA6EADC1F}"/>
              </a:ext>
            </a:extLst>
          </p:cNvPr>
          <p:cNvPicPr>
            <a:picLocks noChangeAspect="1"/>
          </p:cNvPicPr>
          <p:nvPr/>
        </p:nvPicPr>
        <p:blipFill>
          <a:blip r:embed="rId2"/>
          <a:stretch>
            <a:fillRect/>
          </a:stretch>
        </p:blipFill>
        <p:spPr>
          <a:xfrm>
            <a:off x="80433" y="2458556"/>
            <a:ext cx="7395633" cy="1385311"/>
          </a:xfrm>
          <a:prstGeom prst="rect">
            <a:avLst/>
          </a:prstGeom>
        </p:spPr>
      </p:pic>
    </p:spTree>
    <p:extLst>
      <p:ext uri="{BB962C8B-B14F-4D97-AF65-F5344CB8AC3E}">
        <p14:creationId xmlns:p14="http://schemas.microsoft.com/office/powerpoint/2010/main" val="3952656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0777A-1AE2-1A3F-A778-B11D5FBDE2DB}"/>
              </a:ext>
            </a:extLst>
          </p:cNvPr>
          <p:cNvSpPr>
            <a:spLocks noGrp="1"/>
          </p:cNvSpPr>
          <p:nvPr>
            <p:ph type="title"/>
          </p:nvPr>
        </p:nvSpPr>
        <p:spPr/>
        <p:txBody>
          <a:bodyPr/>
          <a:lstStyle/>
          <a:p>
            <a:r>
              <a:rPr lang="en-IN" dirty="0"/>
              <a:t>Exploratory Data Analysis</a:t>
            </a:r>
          </a:p>
        </p:txBody>
      </p:sp>
      <p:sp>
        <p:nvSpPr>
          <p:cNvPr id="4" name="TextBox 3">
            <a:extLst>
              <a:ext uri="{FF2B5EF4-FFF2-40B4-BE49-F238E27FC236}">
                <a16:creationId xmlns:a16="http://schemas.microsoft.com/office/drawing/2014/main" id="{8DE5475C-F91C-482B-4515-161654DAFB4E}"/>
              </a:ext>
            </a:extLst>
          </p:cNvPr>
          <p:cNvSpPr txBox="1"/>
          <p:nvPr/>
        </p:nvSpPr>
        <p:spPr>
          <a:xfrm>
            <a:off x="609599" y="1811403"/>
            <a:ext cx="5211233" cy="923330"/>
          </a:xfrm>
          <a:prstGeom prst="rect">
            <a:avLst/>
          </a:prstGeom>
          <a:noFill/>
        </p:spPr>
        <p:txBody>
          <a:bodyPr wrap="square" rtlCol="0">
            <a:spAutoFit/>
          </a:bodyPr>
          <a:lstStyle/>
          <a:p>
            <a:r>
              <a:rPr lang="en-US" dirty="0"/>
              <a:t>This slide shows the main visualizations created from the Netflix dataset.</a:t>
            </a:r>
            <a:br>
              <a:rPr lang="en-US" dirty="0"/>
            </a:br>
            <a:endParaRPr lang="en-IN" dirty="0"/>
          </a:p>
        </p:txBody>
      </p:sp>
      <p:pic>
        <p:nvPicPr>
          <p:cNvPr id="6" name="Picture 5">
            <a:extLst>
              <a:ext uri="{FF2B5EF4-FFF2-40B4-BE49-F238E27FC236}">
                <a16:creationId xmlns:a16="http://schemas.microsoft.com/office/drawing/2014/main" id="{ECC32C08-4E3C-215D-AADB-AA3747508296}"/>
              </a:ext>
            </a:extLst>
          </p:cNvPr>
          <p:cNvPicPr>
            <a:picLocks noChangeAspect="1"/>
          </p:cNvPicPr>
          <p:nvPr/>
        </p:nvPicPr>
        <p:blipFill>
          <a:blip r:embed="rId2"/>
          <a:stretch>
            <a:fillRect/>
          </a:stretch>
        </p:blipFill>
        <p:spPr>
          <a:xfrm>
            <a:off x="51711" y="2408768"/>
            <a:ext cx="2534856" cy="2040466"/>
          </a:xfrm>
          <a:prstGeom prst="rect">
            <a:avLst/>
          </a:prstGeom>
        </p:spPr>
      </p:pic>
      <p:pic>
        <p:nvPicPr>
          <p:cNvPr id="7" name="Picture 6">
            <a:extLst>
              <a:ext uri="{FF2B5EF4-FFF2-40B4-BE49-F238E27FC236}">
                <a16:creationId xmlns:a16="http://schemas.microsoft.com/office/drawing/2014/main" id="{D645BB4E-850F-59B6-0DE5-D687F9AEC018}"/>
              </a:ext>
            </a:extLst>
          </p:cNvPr>
          <p:cNvPicPr>
            <a:picLocks noChangeAspect="1"/>
          </p:cNvPicPr>
          <p:nvPr/>
        </p:nvPicPr>
        <p:blipFill>
          <a:blip r:embed="rId3"/>
          <a:srcRect/>
          <a:stretch/>
        </p:blipFill>
        <p:spPr>
          <a:xfrm>
            <a:off x="2607735" y="2403656"/>
            <a:ext cx="2713566" cy="1620216"/>
          </a:xfrm>
          <a:prstGeom prst="rect">
            <a:avLst/>
          </a:prstGeom>
        </p:spPr>
      </p:pic>
      <p:pic>
        <p:nvPicPr>
          <p:cNvPr id="8" name="Picture 7">
            <a:extLst>
              <a:ext uri="{FF2B5EF4-FFF2-40B4-BE49-F238E27FC236}">
                <a16:creationId xmlns:a16="http://schemas.microsoft.com/office/drawing/2014/main" id="{F88B15EF-30CC-B204-FF97-A0A465E5B455}"/>
              </a:ext>
            </a:extLst>
          </p:cNvPr>
          <p:cNvPicPr>
            <a:picLocks noChangeAspect="1"/>
          </p:cNvPicPr>
          <p:nvPr/>
        </p:nvPicPr>
        <p:blipFill>
          <a:blip r:embed="rId4"/>
          <a:srcRect/>
          <a:stretch/>
        </p:blipFill>
        <p:spPr>
          <a:xfrm>
            <a:off x="5108808" y="2408768"/>
            <a:ext cx="2545059" cy="1417072"/>
          </a:xfrm>
          <a:prstGeom prst="rect">
            <a:avLst/>
          </a:prstGeom>
        </p:spPr>
      </p:pic>
      <p:pic>
        <p:nvPicPr>
          <p:cNvPr id="9" name="Picture 8">
            <a:extLst>
              <a:ext uri="{FF2B5EF4-FFF2-40B4-BE49-F238E27FC236}">
                <a16:creationId xmlns:a16="http://schemas.microsoft.com/office/drawing/2014/main" id="{30F1B447-94A4-1964-D7DC-06BBB26CCE8C}"/>
              </a:ext>
            </a:extLst>
          </p:cNvPr>
          <p:cNvPicPr>
            <a:picLocks noChangeAspect="1"/>
          </p:cNvPicPr>
          <p:nvPr/>
        </p:nvPicPr>
        <p:blipFill>
          <a:blip r:embed="rId5"/>
          <a:srcRect/>
          <a:stretch/>
        </p:blipFill>
        <p:spPr>
          <a:xfrm>
            <a:off x="51712" y="4449234"/>
            <a:ext cx="2713566" cy="1432074"/>
          </a:xfrm>
          <a:prstGeom prst="rect">
            <a:avLst/>
          </a:prstGeom>
        </p:spPr>
      </p:pic>
      <p:pic>
        <p:nvPicPr>
          <p:cNvPr id="10" name="Picture 9">
            <a:extLst>
              <a:ext uri="{FF2B5EF4-FFF2-40B4-BE49-F238E27FC236}">
                <a16:creationId xmlns:a16="http://schemas.microsoft.com/office/drawing/2014/main" id="{6D8BCB29-C7E6-38FC-2992-0A0744259C76}"/>
              </a:ext>
            </a:extLst>
          </p:cNvPr>
          <p:cNvPicPr>
            <a:picLocks noChangeAspect="1"/>
          </p:cNvPicPr>
          <p:nvPr/>
        </p:nvPicPr>
        <p:blipFill>
          <a:blip r:embed="rId6"/>
          <a:srcRect/>
          <a:stretch/>
        </p:blipFill>
        <p:spPr>
          <a:xfrm>
            <a:off x="2698795" y="3936536"/>
            <a:ext cx="2415495" cy="1497930"/>
          </a:xfrm>
          <a:prstGeom prst="rect">
            <a:avLst/>
          </a:prstGeom>
        </p:spPr>
      </p:pic>
      <p:pic>
        <p:nvPicPr>
          <p:cNvPr id="11" name="Picture 10">
            <a:extLst>
              <a:ext uri="{FF2B5EF4-FFF2-40B4-BE49-F238E27FC236}">
                <a16:creationId xmlns:a16="http://schemas.microsoft.com/office/drawing/2014/main" id="{D886933F-C088-F2C7-CBEB-EF30677A7E27}"/>
              </a:ext>
            </a:extLst>
          </p:cNvPr>
          <p:cNvPicPr>
            <a:picLocks noChangeAspect="1"/>
          </p:cNvPicPr>
          <p:nvPr/>
        </p:nvPicPr>
        <p:blipFill>
          <a:blip r:embed="rId7"/>
          <a:srcRect/>
          <a:stretch/>
        </p:blipFill>
        <p:spPr>
          <a:xfrm>
            <a:off x="5205350" y="3993361"/>
            <a:ext cx="2545059" cy="1548424"/>
          </a:xfrm>
          <a:prstGeom prst="rect">
            <a:avLst/>
          </a:prstGeom>
        </p:spPr>
      </p:pic>
      <p:pic>
        <p:nvPicPr>
          <p:cNvPr id="12" name="Picture 11">
            <a:extLst>
              <a:ext uri="{FF2B5EF4-FFF2-40B4-BE49-F238E27FC236}">
                <a16:creationId xmlns:a16="http://schemas.microsoft.com/office/drawing/2014/main" id="{B5A85828-7942-B471-B435-A403C2EBA687}"/>
              </a:ext>
            </a:extLst>
          </p:cNvPr>
          <p:cNvPicPr>
            <a:picLocks noChangeAspect="1"/>
          </p:cNvPicPr>
          <p:nvPr/>
        </p:nvPicPr>
        <p:blipFill>
          <a:blip r:embed="rId8"/>
          <a:srcRect/>
          <a:stretch/>
        </p:blipFill>
        <p:spPr>
          <a:xfrm>
            <a:off x="5168901" y="5629356"/>
            <a:ext cx="2337056" cy="1003300"/>
          </a:xfrm>
          <a:prstGeom prst="rect">
            <a:avLst/>
          </a:prstGeom>
        </p:spPr>
      </p:pic>
      <p:pic>
        <p:nvPicPr>
          <p:cNvPr id="13" name="Picture 12">
            <a:extLst>
              <a:ext uri="{FF2B5EF4-FFF2-40B4-BE49-F238E27FC236}">
                <a16:creationId xmlns:a16="http://schemas.microsoft.com/office/drawing/2014/main" id="{E76B2311-8A3E-D05B-3A36-BDDCED8EFBB9}"/>
              </a:ext>
            </a:extLst>
          </p:cNvPr>
          <p:cNvPicPr>
            <a:picLocks noChangeAspect="1"/>
          </p:cNvPicPr>
          <p:nvPr/>
        </p:nvPicPr>
        <p:blipFill>
          <a:blip r:embed="rId9"/>
          <a:srcRect/>
          <a:stretch/>
        </p:blipFill>
        <p:spPr>
          <a:xfrm>
            <a:off x="2742041" y="5541785"/>
            <a:ext cx="2329002" cy="1178443"/>
          </a:xfrm>
          <a:prstGeom prst="rect">
            <a:avLst/>
          </a:prstGeom>
        </p:spPr>
      </p:pic>
    </p:spTree>
    <p:extLst>
      <p:ext uri="{BB962C8B-B14F-4D97-AF65-F5344CB8AC3E}">
        <p14:creationId xmlns:p14="http://schemas.microsoft.com/office/powerpoint/2010/main" val="119415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0777A-1AE2-1A3F-A778-B11D5FBDE2DB}"/>
              </a:ext>
            </a:extLst>
          </p:cNvPr>
          <p:cNvSpPr>
            <a:spLocks noGrp="1"/>
          </p:cNvSpPr>
          <p:nvPr>
            <p:ph type="title"/>
          </p:nvPr>
        </p:nvSpPr>
        <p:spPr/>
        <p:txBody>
          <a:bodyPr/>
          <a:lstStyle/>
          <a:p>
            <a:r>
              <a:rPr lang="en-IN" dirty="0"/>
              <a:t>Code Implementation</a:t>
            </a:r>
          </a:p>
        </p:txBody>
      </p:sp>
      <p:sp>
        <p:nvSpPr>
          <p:cNvPr id="4" name="TextBox 3">
            <a:extLst>
              <a:ext uri="{FF2B5EF4-FFF2-40B4-BE49-F238E27FC236}">
                <a16:creationId xmlns:a16="http://schemas.microsoft.com/office/drawing/2014/main" id="{8DE5475C-F91C-482B-4515-161654DAFB4E}"/>
              </a:ext>
            </a:extLst>
          </p:cNvPr>
          <p:cNvSpPr txBox="1"/>
          <p:nvPr/>
        </p:nvSpPr>
        <p:spPr>
          <a:xfrm>
            <a:off x="609599" y="1543103"/>
            <a:ext cx="5211233" cy="1477328"/>
          </a:xfrm>
          <a:prstGeom prst="rect">
            <a:avLst/>
          </a:prstGeom>
          <a:noFill/>
        </p:spPr>
        <p:txBody>
          <a:bodyPr wrap="square" rtlCol="0">
            <a:spAutoFit/>
          </a:bodyPr>
          <a:lstStyle/>
          <a:p>
            <a:r>
              <a:rPr lang="en-US" dirty="0"/>
              <a:t>This slide shows the </a:t>
            </a:r>
            <a:r>
              <a:rPr lang="en-US" b="1" dirty="0"/>
              <a:t>recorded demonstration of the Python code</a:t>
            </a:r>
            <a:r>
              <a:rPr lang="en-US" dirty="0"/>
              <a:t> powering the Netflix EDA dashboard.</a:t>
            </a:r>
            <a:br>
              <a:rPr lang="en-US" dirty="0"/>
            </a:br>
            <a:br>
              <a:rPr lang="en-US" dirty="0"/>
            </a:br>
            <a:endParaRPr lang="en-IN" dirty="0"/>
          </a:p>
        </p:txBody>
      </p:sp>
      <p:pic>
        <p:nvPicPr>
          <p:cNvPr id="6" name="Picture 5">
            <a:extLst>
              <a:ext uri="{FF2B5EF4-FFF2-40B4-BE49-F238E27FC236}">
                <a16:creationId xmlns:a16="http://schemas.microsoft.com/office/drawing/2014/main" id="{52366F21-72B3-FD26-29CA-D1492EA92148}"/>
              </a:ext>
            </a:extLst>
          </p:cNvPr>
          <p:cNvPicPr>
            <a:picLocks noChangeAspect="1"/>
          </p:cNvPicPr>
          <p:nvPr/>
        </p:nvPicPr>
        <p:blipFill>
          <a:blip r:embed="rId2"/>
          <a:stretch>
            <a:fillRect/>
          </a:stretch>
        </p:blipFill>
        <p:spPr>
          <a:xfrm>
            <a:off x="5992035" y="2727153"/>
            <a:ext cx="2631600" cy="3121199"/>
          </a:xfrm>
          <a:prstGeom prst="rect">
            <a:avLst/>
          </a:prstGeom>
        </p:spPr>
      </p:pic>
      <p:pic>
        <p:nvPicPr>
          <p:cNvPr id="10" name="Picture 9">
            <a:extLst>
              <a:ext uri="{FF2B5EF4-FFF2-40B4-BE49-F238E27FC236}">
                <a16:creationId xmlns:a16="http://schemas.microsoft.com/office/drawing/2014/main" id="{84AC1E2E-2DA0-DB4F-BAE2-7056ACA7A516}"/>
              </a:ext>
            </a:extLst>
          </p:cNvPr>
          <p:cNvPicPr>
            <a:picLocks noChangeAspect="1"/>
          </p:cNvPicPr>
          <p:nvPr/>
        </p:nvPicPr>
        <p:blipFill>
          <a:blip r:embed="rId3"/>
          <a:stretch>
            <a:fillRect/>
          </a:stretch>
        </p:blipFill>
        <p:spPr>
          <a:xfrm>
            <a:off x="609599" y="2728384"/>
            <a:ext cx="2632124" cy="3119968"/>
          </a:xfrm>
          <a:prstGeom prst="rect">
            <a:avLst/>
          </a:prstGeom>
        </p:spPr>
      </p:pic>
      <p:pic>
        <p:nvPicPr>
          <p:cNvPr id="12" name="Picture 11">
            <a:extLst>
              <a:ext uri="{FF2B5EF4-FFF2-40B4-BE49-F238E27FC236}">
                <a16:creationId xmlns:a16="http://schemas.microsoft.com/office/drawing/2014/main" id="{2CB3B16A-E6D6-BC6F-6FAF-EC189E11DE71}"/>
              </a:ext>
            </a:extLst>
          </p:cNvPr>
          <p:cNvPicPr>
            <a:picLocks noChangeAspect="1"/>
          </p:cNvPicPr>
          <p:nvPr/>
        </p:nvPicPr>
        <p:blipFill>
          <a:blip r:embed="rId4"/>
          <a:stretch>
            <a:fillRect/>
          </a:stretch>
        </p:blipFill>
        <p:spPr>
          <a:xfrm>
            <a:off x="3301079" y="2728384"/>
            <a:ext cx="2631600" cy="3119968"/>
          </a:xfrm>
          <a:prstGeom prst="rect">
            <a:avLst/>
          </a:prstGeom>
        </p:spPr>
      </p:pic>
    </p:spTree>
    <p:extLst>
      <p:ext uri="{BB962C8B-B14F-4D97-AF65-F5344CB8AC3E}">
        <p14:creationId xmlns:p14="http://schemas.microsoft.com/office/powerpoint/2010/main" val="1548855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42CFC-A738-8FCF-1BC1-415428C1B00F}"/>
              </a:ext>
            </a:extLst>
          </p:cNvPr>
          <p:cNvSpPr>
            <a:spLocks noGrp="1"/>
          </p:cNvSpPr>
          <p:nvPr>
            <p:ph type="title"/>
          </p:nvPr>
        </p:nvSpPr>
        <p:spPr/>
        <p:txBody>
          <a:bodyPr/>
          <a:lstStyle/>
          <a:p>
            <a:r>
              <a:rPr lang="en-IN" dirty="0"/>
              <a:t>Results / Findings</a:t>
            </a:r>
          </a:p>
        </p:txBody>
      </p:sp>
      <p:sp>
        <p:nvSpPr>
          <p:cNvPr id="3" name="TextBox 2">
            <a:extLst>
              <a:ext uri="{FF2B5EF4-FFF2-40B4-BE49-F238E27FC236}">
                <a16:creationId xmlns:a16="http://schemas.microsoft.com/office/drawing/2014/main" id="{898C36E5-D638-59B7-1A5B-4C6325D6B5C0}"/>
              </a:ext>
            </a:extLst>
          </p:cNvPr>
          <p:cNvSpPr txBox="1"/>
          <p:nvPr/>
        </p:nvSpPr>
        <p:spPr>
          <a:xfrm>
            <a:off x="664633" y="1625600"/>
            <a:ext cx="6347714" cy="3139321"/>
          </a:xfrm>
          <a:prstGeom prst="rect">
            <a:avLst/>
          </a:prstGeom>
          <a:noFill/>
        </p:spPr>
        <p:txBody>
          <a:bodyPr wrap="square" rtlCol="0">
            <a:spAutoFit/>
          </a:bodyPr>
          <a:lstStyle/>
          <a:p>
            <a:r>
              <a:rPr lang="en-US" dirty="0"/>
              <a:t>🟩 Key Discoveries:</a:t>
            </a:r>
          </a:p>
          <a:p>
            <a:endParaRPr lang="en-US" dirty="0"/>
          </a:p>
          <a:p>
            <a:pPr marL="285750" indent="-285750">
              <a:buFont typeface="Arial" panose="020B0604020202020204" pitchFamily="34" charset="0"/>
              <a:buChar char="•"/>
            </a:pPr>
            <a:r>
              <a:rPr lang="en-US" dirty="0"/>
              <a:t>70% of Netflix content are Movies</a:t>
            </a:r>
          </a:p>
          <a:p>
            <a:pPr marL="285750" indent="-285750">
              <a:buFont typeface="Arial" panose="020B0604020202020204" pitchFamily="34" charset="0"/>
              <a:buChar char="•"/>
            </a:pPr>
            <a:r>
              <a:rPr lang="en-US" dirty="0"/>
              <a:t>U.S. and India contribute the most titles</a:t>
            </a:r>
          </a:p>
          <a:p>
            <a:pPr marL="285750" indent="-285750">
              <a:buFont typeface="Arial" panose="020B0604020202020204" pitchFamily="34" charset="0"/>
              <a:buChar char="•"/>
            </a:pPr>
            <a:r>
              <a:rPr lang="en-US" dirty="0"/>
              <a:t>Most common ratings: TV-MA and TV-14</a:t>
            </a:r>
          </a:p>
          <a:p>
            <a:pPr marL="285750" indent="-285750">
              <a:buFont typeface="Arial" panose="020B0604020202020204" pitchFamily="34" charset="0"/>
              <a:buChar char="•"/>
            </a:pPr>
            <a:r>
              <a:rPr lang="en-US" dirty="0"/>
              <a:t>Content production increased sharply after 2015</a:t>
            </a:r>
          </a:p>
          <a:p>
            <a:pPr marL="285750" indent="-285750">
              <a:buFont typeface="Arial" panose="020B0604020202020204" pitchFamily="34" charset="0"/>
              <a:buChar char="•"/>
            </a:pPr>
            <a:r>
              <a:rPr lang="en-US" dirty="0"/>
              <a:t>Newer shows added faster (correlation between release year &amp; year added)</a:t>
            </a:r>
          </a:p>
          <a:p>
            <a:endParaRPr lang="en-US" dirty="0"/>
          </a:p>
          <a:p>
            <a:r>
              <a:rPr lang="en-US" dirty="0"/>
              <a:t>✅ Summary: Visualizations reveal content trends, popular genres, countries, and ratings distribution.</a:t>
            </a:r>
            <a:endParaRPr lang="en-IN" dirty="0"/>
          </a:p>
        </p:txBody>
      </p:sp>
    </p:spTree>
    <p:extLst>
      <p:ext uri="{BB962C8B-B14F-4D97-AF65-F5344CB8AC3E}">
        <p14:creationId xmlns:p14="http://schemas.microsoft.com/office/powerpoint/2010/main" val="2290184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FD8B6-3BDB-0E8F-F99A-DCD0A0BA3F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F5DBC-D9ED-FB68-83AF-638D53F2F09C}"/>
              </a:ext>
            </a:extLst>
          </p:cNvPr>
          <p:cNvSpPr>
            <a:spLocks noGrp="1"/>
          </p:cNvSpPr>
          <p:nvPr>
            <p:ph type="title"/>
          </p:nvPr>
        </p:nvSpPr>
        <p:spPr/>
        <p:txBody>
          <a:bodyPr/>
          <a:lstStyle/>
          <a:p>
            <a:r>
              <a:rPr lang="en-IN" dirty="0"/>
              <a:t>Scope &amp; Future Work</a:t>
            </a:r>
          </a:p>
        </p:txBody>
      </p:sp>
      <p:sp>
        <p:nvSpPr>
          <p:cNvPr id="3" name="TextBox 2">
            <a:extLst>
              <a:ext uri="{FF2B5EF4-FFF2-40B4-BE49-F238E27FC236}">
                <a16:creationId xmlns:a16="http://schemas.microsoft.com/office/drawing/2014/main" id="{4193A5C1-44A6-B310-9B63-A9C3F046B398}"/>
              </a:ext>
            </a:extLst>
          </p:cNvPr>
          <p:cNvSpPr txBox="1"/>
          <p:nvPr/>
        </p:nvSpPr>
        <p:spPr>
          <a:xfrm>
            <a:off x="664633" y="1625600"/>
            <a:ext cx="6347714" cy="3693319"/>
          </a:xfrm>
          <a:prstGeom prst="rect">
            <a:avLst/>
          </a:prstGeom>
          <a:noFill/>
        </p:spPr>
        <p:txBody>
          <a:bodyPr wrap="square" rtlCol="0">
            <a:spAutoFit/>
          </a:bodyPr>
          <a:lstStyle/>
          <a:p>
            <a:r>
              <a:rPr lang="en-IN" b="1" dirty="0"/>
              <a:t>🟩 Scope:</a:t>
            </a:r>
          </a:p>
          <a:p>
            <a:endParaRPr lang="en-IN" b="1" dirty="0"/>
          </a:p>
          <a:p>
            <a:pPr marL="285750" indent="-285750">
              <a:buFont typeface="Arial" panose="020B0604020202020204" pitchFamily="34" charset="0"/>
              <a:buChar char="•"/>
            </a:pPr>
            <a:r>
              <a:rPr lang="en-IN" dirty="0"/>
              <a:t>Useful for </a:t>
            </a:r>
            <a:r>
              <a:rPr lang="en-IN" b="1" dirty="0"/>
              <a:t>media analysts</a:t>
            </a:r>
            <a:r>
              <a:rPr lang="en-IN" dirty="0"/>
              <a:t> to study Netflix trends.</a:t>
            </a:r>
          </a:p>
          <a:p>
            <a:pPr marL="285750" indent="-285750">
              <a:buFont typeface="Arial" panose="020B0604020202020204" pitchFamily="34" charset="0"/>
              <a:buChar char="•"/>
            </a:pPr>
            <a:r>
              <a:rPr lang="en-IN" dirty="0"/>
              <a:t>Helps </a:t>
            </a:r>
            <a:r>
              <a:rPr lang="en-IN" b="1" dirty="0"/>
              <a:t>Netflix</a:t>
            </a:r>
            <a:r>
              <a:rPr lang="en-IN" dirty="0"/>
              <a:t> understand audience preferences.</a:t>
            </a:r>
          </a:p>
          <a:p>
            <a:pPr marL="285750" indent="-285750">
              <a:buFont typeface="Arial" panose="020B0604020202020204" pitchFamily="34" charset="0"/>
              <a:buChar char="•"/>
            </a:pPr>
            <a:r>
              <a:rPr lang="en-IN" dirty="0"/>
              <a:t>Supports </a:t>
            </a:r>
            <a:r>
              <a:rPr lang="en-IN" b="1" dirty="0"/>
              <a:t>recommendation systems</a:t>
            </a:r>
            <a:r>
              <a:rPr lang="en-IN" dirty="0"/>
              <a:t> and content strategy.</a:t>
            </a:r>
          </a:p>
          <a:p>
            <a:pPr marL="285750" indent="-285750">
              <a:buFont typeface="Arial" panose="020B0604020202020204" pitchFamily="34" charset="0"/>
              <a:buChar char="•"/>
            </a:pPr>
            <a:endParaRPr lang="en-IN" dirty="0"/>
          </a:p>
          <a:p>
            <a:r>
              <a:rPr lang="en-IN" b="1" dirty="0"/>
              <a:t>🟩 Future Work:</a:t>
            </a:r>
          </a:p>
          <a:p>
            <a:endParaRPr lang="en-IN" b="1" dirty="0"/>
          </a:p>
          <a:p>
            <a:pPr marL="285750" indent="-285750">
              <a:buFont typeface="Arial" panose="020B0604020202020204" pitchFamily="34" charset="0"/>
              <a:buChar char="•"/>
            </a:pPr>
            <a:r>
              <a:rPr lang="en-IN" dirty="0"/>
              <a:t>Add filters: </a:t>
            </a:r>
            <a:r>
              <a:rPr lang="en-IN" b="1" dirty="0"/>
              <a:t>genre, country, rating.</a:t>
            </a:r>
            <a:endParaRPr lang="en-IN" dirty="0"/>
          </a:p>
          <a:p>
            <a:pPr marL="285750" indent="-285750">
              <a:buFont typeface="Arial" panose="020B0604020202020204" pitchFamily="34" charset="0"/>
              <a:buChar char="•"/>
            </a:pPr>
            <a:r>
              <a:rPr lang="en-IN" dirty="0"/>
              <a:t>Include </a:t>
            </a:r>
            <a:r>
              <a:rPr lang="en-IN" b="1" dirty="0"/>
              <a:t>IMDb ratings</a:t>
            </a:r>
            <a:r>
              <a:rPr lang="en-IN" dirty="0"/>
              <a:t> or other external data.</a:t>
            </a:r>
          </a:p>
          <a:p>
            <a:pPr marL="285750" indent="-285750">
              <a:buFont typeface="Arial" panose="020B0604020202020204" pitchFamily="34" charset="0"/>
              <a:buChar char="•"/>
            </a:pPr>
            <a:r>
              <a:rPr lang="en-IN" dirty="0"/>
              <a:t>Apply </a:t>
            </a:r>
            <a:r>
              <a:rPr lang="en-IN" b="1" dirty="0"/>
              <a:t>machine learning</a:t>
            </a:r>
            <a:r>
              <a:rPr lang="en-IN" dirty="0"/>
              <a:t> for trend prediction or recommendations.</a:t>
            </a:r>
          </a:p>
        </p:txBody>
      </p:sp>
    </p:spTree>
    <p:extLst>
      <p:ext uri="{BB962C8B-B14F-4D97-AF65-F5344CB8AC3E}">
        <p14:creationId xmlns:p14="http://schemas.microsoft.com/office/powerpoint/2010/main" val="171802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91E0A-BB7B-1D10-7B3A-C5452680A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6B68DD-F675-DD9C-D874-FDCE15B1ECAC}"/>
              </a:ext>
            </a:extLst>
          </p:cNvPr>
          <p:cNvSpPr>
            <a:spLocks noGrp="1"/>
          </p:cNvSpPr>
          <p:nvPr>
            <p:ph type="title"/>
          </p:nvPr>
        </p:nvSpPr>
        <p:spPr/>
        <p:txBody>
          <a:bodyPr/>
          <a:lstStyle/>
          <a:p>
            <a:r>
              <a:rPr lang="en-IN" dirty="0"/>
              <a:t>Conclusion</a:t>
            </a:r>
          </a:p>
        </p:txBody>
      </p:sp>
      <p:sp>
        <p:nvSpPr>
          <p:cNvPr id="3" name="TextBox 2">
            <a:extLst>
              <a:ext uri="{FF2B5EF4-FFF2-40B4-BE49-F238E27FC236}">
                <a16:creationId xmlns:a16="http://schemas.microsoft.com/office/drawing/2014/main" id="{84BC7582-F8AA-7A0E-AD28-C266A2617C83}"/>
              </a:ext>
            </a:extLst>
          </p:cNvPr>
          <p:cNvSpPr txBox="1"/>
          <p:nvPr/>
        </p:nvSpPr>
        <p:spPr>
          <a:xfrm>
            <a:off x="664633" y="1625600"/>
            <a:ext cx="6347714" cy="2862322"/>
          </a:xfrm>
          <a:prstGeom prst="rect">
            <a:avLst/>
          </a:prstGeom>
          <a:noFill/>
        </p:spPr>
        <p:txBody>
          <a:bodyPr wrap="square" rtlCol="0">
            <a:spAutoFit/>
          </a:bodyPr>
          <a:lstStyle/>
          <a:p>
            <a:r>
              <a:rPr lang="en-IN" b="1" dirty="0"/>
              <a:t>🟩 Summary:</a:t>
            </a:r>
          </a:p>
          <a:p>
            <a:endParaRPr lang="en-IN" b="1" dirty="0"/>
          </a:p>
          <a:p>
            <a:pPr marL="285750" indent="-285750">
              <a:buFont typeface="Arial" panose="020B0604020202020204" pitchFamily="34" charset="0"/>
              <a:buChar char="•"/>
            </a:pPr>
            <a:r>
              <a:rPr lang="en-IN" b="1" dirty="0"/>
              <a:t>Provided insights into Netflix content using EDA and visualization</a:t>
            </a:r>
          </a:p>
          <a:p>
            <a:pPr marL="285750" indent="-285750">
              <a:buFont typeface="Arial" panose="020B0604020202020204" pitchFamily="34" charset="0"/>
              <a:buChar char="•"/>
            </a:pPr>
            <a:r>
              <a:rPr lang="en-IN" b="1" dirty="0"/>
              <a:t>Interactive dashboard makes data exploration easier</a:t>
            </a:r>
          </a:p>
          <a:p>
            <a:pPr marL="285750" indent="-285750">
              <a:buFont typeface="Arial" panose="020B0604020202020204" pitchFamily="34" charset="0"/>
              <a:buChar char="•"/>
            </a:pPr>
            <a:r>
              <a:rPr lang="en-IN" b="1" dirty="0"/>
              <a:t>Highlights trends in content type, genres, countries, and ratings</a:t>
            </a:r>
          </a:p>
          <a:p>
            <a:endParaRPr lang="en-IN" b="1" dirty="0"/>
          </a:p>
          <a:p>
            <a:r>
              <a:rPr lang="en-IN" b="1" dirty="0"/>
              <a:t>✅ </a:t>
            </a:r>
            <a:r>
              <a:rPr lang="en-IN" b="1" dirty="0" err="1"/>
              <a:t>Takeaway:Helps</a:t>
            </a:r>
            <a:r>
              <a:rPr lang="en-IN" b="1" dirty="0"/>
              <a:t> viewers understand Netflix content trends clearly and interactively</a:t>
            </a:r>
            <a:endParaRPr lang="en-IN" dirty="0"/>
          </a:p>
        </p:txBody>
      </p:sp>
    </p:spTree>
    <p:extLst>
      <p:ext uri="{BB962C8B-B14F-4D97-AF65-F5344CB8AC3E}">
        <p14:creationId xmlns:p14="http://schemas.microsoft.com/office/powerpoint/2010/main" val="2353627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5A8F-E2D3-6AF6-8A0A-83CF364553E1}"/>
              </a:ext>
            </a:extLst>
          </p:cNvPr>
          <p:cNvSpPr>
            <a:spLocks noGrp="1"/>
          </p:cNvSpPr>
          <p:nvPr>
            <p:ph type="title"/>
          </p:nvPr>
        </p:nvSpPr>
        <p:spPr/>
        <p:txBody>
          <a:bodyPr/>
          <a:lstStyle/>
          <a:p>
            <a:r>
              <a:rPr lang="en-IN" dirty="0"/>
              <a:t>Thank You! 🙏</a:t>
            </a:r>
          </a:p>
        </p:txBody>
      </p:sp>
      <p:sp>
        <p:nvSpPr>
          <p:cNvPr id="4" name="TextBox 3">
            <a:extLst>
              <a:ext uri="{FF2B5EF4-FFF2-40B4-BE49-F238E27FC236}">
                <a16:creationId xmlns:a16="http://schemas.microsoft.com/office/drawing/2014/main" id="{075C4DBB-4710-66E4-4785-64EF68799D9F}"/>
              </a:ext>
            </a:extLst>
          </p:cNvPr>
          <p:cNvSpPr txBox="1"/>
          <p:nvPr/>
        </p:nvSpPr>
        <p:spPr>
          <a:xfrm>
            <a:off x="792760" y="1740716"/>
            <a:ext cx="6522440" cy="369332"/>
          </a:xfrm>
          <a:prstGeom prst="rect">
            <a:avLst/>
          </a:prstGeom>
          <a:noFill/>
        </p:spPr>
        <p:txBody>
          <a:bodyPr wrap="square" rtlCol="0">
            <a:spAutoFit/>
          </a:bodyPr>
          <a:lstStyle/>
          <a:p>
            <a:r>
              <a:rPr lang="en-IN" b="1" dirty="0"/>
              <a:t>Slide Content:</a:t>
            </a:r>
          </a:p>
        </p:txBody>
      </p:sp>
      <p:sp>
        <p:nvSpPr>
          <p:cNvPr id="5" name="TextBox 4">
            <a:extLst>
              <a:ext uri="{FF2B5EF4-FFF2-40B4-BE49-F238E27FC236}">
                <a16:creationId xmlns:a16="http://schemas.microsoft.com/office/drawing/2014/main" id="{7D3340D7-5A23-49A4-0D39-78FC4964C434}"/>
              </a:ext>
            </a:extLst>
          </p:cNvPr>
          <p:cNvSpPr txBox="1"/>
          <p:nvPr/>
        </p:nvSpPr>
        <p:spPr>
          <a:xfrm>
            <a:off x="910206" y="2508308"/>
            <a:ext cx="6963794" cy="2308324"/>
          </a:xfrm>
          <a:prstGeom prst="rect">
            <a:avLst/>
          </a:prstGeom>
          <a:noFill/>
        </p:spPr>
        <p:txBody>
          <a:bodyPr wrap="square" rtlCol="0">
            <a:spAutoFit/>
          </a:bodyPr>
          <a:lstStyle/>
          <a:p>
            <a:r>
              <a:rPr lang="en-US" b="1" dirty="0"/>
              <a:t>Any Questions?</a:t>
            </a:r>
            <a:endParaRPr lang="en-US" dirty="0"/>
          </a:p>
          <a:p>
            <a:pPr marL="285750" indent="-285750">
              <a:buFont typeface="Arial" panose="020B0604020202020204" pitchFamily="34" charset="0"/>
              <a:buChar char="•"/>
            </a:pPr>
            <a:endParaRPr lang="en-US" dirty="0"/>
          </a:p>
          <a:p>
            <a:pPr marL="285750" indent="-285750" algn="l" fontAlgn="base">
              <a:buFont typeface="Arial" panose="020B0604020202020204" pitchFamily="34" charset="0"/>
              <a:buChar char="•"/>
            </a:pPr>
            <a:r>
              <a:rPr lang="en-US" b="1" dirty="0"/>
              <a:t>Website: </a:t>
            </a:r>
            <a:r>
              <a:rPr lang="en-US" dirty="0"/>
              <a:t>[</a:t>
            </a:r>
            <a:r>
              <a:rPr lang="en-US" dirty="0">
                <a:hlinkClick r:id="rId2"/>
              </a:rPr>
              <a:t>https://netflix-database-eda.streamlit.app/]</a:t>
            </a:r>
            <a:endParaRPr lang="en-US" dirty="0"/>
          </a:p>
          <a:p>
            <a:pPr marL="285750" indent="-285750" algn="l" fontAlgn="base">
              <a:buFont typeface="Arial" panose="020B0604020202020204" pitchFamily="34" charset="0"/>
              <a:buChar char="•"/>
            </a:pPr>
            <a:endParaRPr lang="en-US" dirty="0"/>
          </a:p>
          <a:p>
            <a:pPr marL="285750" indent="-285750" algn="l" fontAlgn="base">
              <a:buFont typeface="Arial" panose="020B0604020202020204" pitchFamily="34" charset="0"/>
              <a:buChar char="•"/>
            </a:pPr>
            <a:r>
              <a:rPr lang="en-US" b="1" dirty="0"/>
              <a:t>Connect: </a:t>
            </a:r>
            <a:r>
              <a:rPr lang="en-US" dirty="0"/>
              <a:t>[</a:t>
            </a:r>
            <a:r>
              <a:rPr lang="en-US" dirty="0">
                <a:hlinkClick r:id="rId3"/>
              </a:rPr>
              <a:t>mitadru231001001117@technoindiaeducation.com</a:t>
            </a:r>
            <a:r>
              <a:rPr lang="en-US" dirty="0"/>
              <a:t>/ </a:t>
            </a:r>
            <a:r>
              <a:rPr lang="en-IN" b="0" i="0" dirty="0">
                <a:effectLst/>
                <a:latin typeface="-apple-system"/>
                <a:hlinkClick r:id="rId4"/>
              </a:rPr>
              <a:t>www.linkedin.com/in/mitadru-karmakar-483274319</a:t>
            </a:r>
            <a:r>
              <a:rPr lang="en-US" dirty="0"/>
              <a:t> / </a:t>
            </a:r>
            <a:r>
              <a:rPr lang="en-US" dirty="0">
                <a:hlinkClick r:id="rId5"/>
              </a:rPr>
              <a:t>https://github.com/Readerrss/Netflix-EDA</a:t>
            </a:r>
            <a:r>
              <a:rPr lang="en-US" dirty="0"/>
              <a:t>]</a:t>
            </a:r>
          </a:p>
          <a:p>
            <a:pPr algn="l" fontAlgn="base"/>
            <a:endParaRPr lang="en-IN" dirty="0"/>
          </a:p>
        </p:txBody>
      </p:sp>
    </p:spTree>
    <p:extLst>
      <p:ext uri="{BB962C8B-B14F-4D97-AF65-F5344CB8AC3E}">
        <p14:creationId xmlns:p14="http://schemas.microsoft.com/office/powerpoint/2010/main" val="2479100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184</TotalTime>
  <Words>787</Words>
  <Application>Microsoft Office PowerPoint</Application>
  <PresentationFormat>On-screen Show (4:3)</PresentationFormat>
  <Paragraphs>112</Paragraphs>
  <Slides>12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Slide Titles</vt:lpstr>
      </vt:variant>
      <vt:variant>
        <vt:i4>12</vt:i4>
      </vt:variant>
      <vt:variant>
        <vt:lpstr>Custom Shows</vt:lpstr>
      </vt:variant>
      <vt:variant>
        <vt:i4>1</vt:i4>
      </vt:variant>
    </vt:vector>
  </HeadingPairs>
  <TitlesOfParts>
    <vt:vector size="19" baseType="lpstr">
      <vt:lpstr>-apple-system</vt:lpstr>
      <vt:lpstr>Aptos</vt:lpstr>
      <vt:lpstr>Arial</vt:lpstr>
      <vt:lpstr>Trebuchet MS</vt:lpstr>
      <vt:lpstr>Wingdings 3</vt:lpstr>
      <vt:lpstr>Facet</vt:lpstr>
      <vt:lpstr>Title Slide/About Me</vt:lpstr>
      <vt:lpstr>Introduction / Problem Statement</vt:lpstr>
      <vt:lpstr>🧰 Tools &amp; Technologies Used</vt:lpstr>
      <vt:lpstr>🎯 Project Objectives</vt:lpstr>
      <vt:lpstr>🟦 Methodology / Workflow</vt:lpstr>
      <vt:lpstr>Dataset preview</vt:lpstr>
      <vt:lpstr>Exploratory Data Analysis</vt:lpstr>
      <vt:lpstr>Code Implementation</vt:lpstr>
      <vt:lpstr>Results / Findings</vt:lpstr>
      <vt:lpstr>Scope &amp; Future Work</vt:lpstr>
      <vt:lpstr>Conclusion</vt:lpstr>
      <vt:lpstr>Thank You! 🙏</vt:lpstr>
      <vt:lpstr>Custom Show 1</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MITADRU</dc:creator>
  <cp:keywords/>
  <dc:description>generated using python-pptx</dc:description>
  <cp:lastModifiedBy>Mitadru Karmakar</cp:lastModifiedBy>
  <cp:revision>13</cp:revision>
  <dcterms:created xsi:type="dcterms:W3CDTF">2013-01-27T09:14:16Z</dcterms:created>
  <dcterms:modified xsi:type="dcterms:W3CDTF">2025-11-07T16:07:49Z</dcterms:modified>
  <cp:category/>
</cp:coreProperties>
</file>